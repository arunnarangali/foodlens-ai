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6185d9f-874c-188e-9cf4-0a5f46e4ce3b}">
          <p14:sldIdLst>
            <p14:sldId id="256"/>
          </p14:sldIdLst>
        </p14:section>
        <p14:section name="Problem &amp; product" id="{2fc1348e-5462-8163-5637-f89fc11cf50a}">
          <p14:sldIdLst>
            <p14:sldId id="257"/>
            <p14:sldId id="258"/>
          </p14:sldIdLst>
        </p14:section>
        <p14:section name="Demo screens" id="{ff7c8c4e-e8ba-d27f-77b4-2bd4fcfc866f}">
          <p14:sldIdLst>
            <p14:sldId id="259"/>
            <p14:sldId id="260"/>
            <p14:sldId id="261"/>
            <p14:sldId id="262"/>
            <p14:sldId id="263"/>
            <p14:sldId id="264"/>
            <p14:sldId id="265"/>
          </p14:sldIdLst>
        </p14:section>
        <p14:section name="Engineering" id="{1b9d0776-ba25-33db-101b-cce0f46a5e75}">
          <p14:sldIdLst>
            <p14:sldId id="266"/>
            <p14:sldId id="267"/>
            <p14:sldId id="268"/>
            <p14:sldId id="269"/>
          </p14:sldIdLst>
        </p14:section>
        <p14:section name="Wrap-up" id="{dded7268-51d6-6a09-9f04-94d250ecee88}">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I'm presenting FoodLens AI, a web app that helps people understand what's on their plate from a single food photo. It gives educational nutrition ranges and likely ingredients, and it compares those ranges with an illustrative goal: weight loss, maintain weight or weight gain. It's React, TypeScript and Vite on the front, a standard-library Go backend, and Ollama Cloud's gemma4:31b vision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tracking is tedious, and many AI apps claim to measure exact calories from pixels. But a photo can't show hidden butter, frying oil or dense fillings. FoodLens takes the honest route: ranges tied to an explicit portion assumption, and a visible list of what it can't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has four steps. Snap or upload, the Go backend validates and calls Ollama Cloud, the user gets honest ranges, and they can compare those ranges with an illustrative goal. We keep the scope tight: no accounts, no stored images, no personal diet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journey: pick or capture a photo and see a preview. While the model runs, the AI plate scanner animates in the results panel and the Analyze button shimmers. Then the result appears, with the dish name, confidence and copy icon pinned at the top. Screenshot from the real React build; analysis values are a labelled sample response from a mock backend, not a live AI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nutrient card carries a lot of information without losing honesty. The range comes first, then an approximate midpoint, the goal reference and a text badge. The bar shows the estimated interval, the midpoint and the reference tick. The serving assumption, uncertainty and disclaimer are all still there. Screenshot from the real React build; analysis values are a labelled sample response from a mock backend, not a live AI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goal comparison. The same meal, two goals. On Maintain weight, calories are below the 600 kcal reference. Switch to Weight loss and the reference drops to 450, so the calorie range now includes it and the card turns green. The estimate itself never changes; only the comparison does. These presets are illustrative per-meal values, not personalised advice, and the selection never leaves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colour logic is deliberately simple and conservative. If the whole range is below the reference it's blue, if the whole range is above it's amber, and if the reference falls anywhere inside the range it's green. Unknown nutrients are grey with no comparison. The colours never say a meal is healthy or unhealthy, and every card also has a text badge so colour isn't the only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landing page sample is interactive. Visitors can switch between the three demo goals on a sample bowl and watch the cards change, without uploading a photo or using any AI credits. It's clearly labelled as a sample with demonstration presets, and its state is completely separate from the real analyzer.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photo isn't food or isn't clear, FoodLens asks for a better photo. It shows no nutrition, goal tabs or legend, so nothing is invented. Upload and provider errors return safe, typed messages, and there are no silent automatic retries.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phone, the goal tabs stack vertically, cards become a single column, and the summary stays sticky while you scroll. Camera capture works the same as before. One honest note: in my screenshot at 390 pixels wide, the cards run slightly past the right edge, so that's on the fix list along with real-device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talks only to Go, Go validates the upload, calls Ollama Cloud with a backend-only key, and strictly validates the response. The goal comparison runs entirely in the browser using fixed presets, so goal choices are never sent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cloud API can't enforce a JSON schema, we do it ourselves: JSON templates in the prompt and strict validation in Go. Invalid output fails safely. The project was built with AI coding agents, guided by AGENTS.md, a custom skill and a recorded prompt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61 frontend tests across six suites. They cover the comparison logic including equality and unknown values, goal switching and keyboard use, the landing sample, and the scanner. TypeScript is clean, the production build passes, and the Go tests and vet pass. Tests use mock transport, so no credentials or credits are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privacy: the API key lives only on the backend, images stay in memory, and the goal choice lives only in browser memory and is never saved or sent. We're explicit that the presets are illustrative per-meal values, not personalised advice or weight-change promises, and the usual limits about cloud processing and allergens still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demo, I'll start on the landing page and switch the sample goals, then upload a meal and show the scanner, walk through the cards and switch goals, and finally copy the result and try an invalid file. If the provider is down, I'll use a clearly labelled sample response. Key learnings: validate AI output, compare instead of judging, and keep the UX honest. Next: fix the small mobile overflow, test on real phones, verify a live call and deploy.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5852160" cy="146304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txBox="1"/>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chemeClr val="accent2"/>
                </a:solidFill>
              </a:rPr>
              <a:t>FoodLens AI</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463040"/>
            <a:ext cx="7315200" cy="274320"/>
          </a:xfrm>
          <a:prstGeom prst="rect">
            <a:avLst/>
          </a:prstGeom>
          <a:noFill/>
          <a:ln/>
        </p:spPr>
        <p:txBody>
          <a:bodyPr wrap="square" lIns="0" tIns="0" rIns="0" bIns="0" rtlCol="0" anchor="ctr"/>
          <a:lstStyle/>
          <a:p>
            <a:pPr indent="0" marL="0">
              <a:buNone/>
            </a:pPr>
            <a:r>
              <a:rPr lang="en-US" sz="1100" b="1" spc="300" kern="0" dirty="0">
                <a:solidFill>
                  <a:schemeClr val="accent6"/>
                </a:solidFill>
              </a:rPr>
              <a:t>PROJECT PRESENTATION · OCTOBER 2026</a:t>
            </a:r>
            <a:endParaRPr lang="en-US" sz="1100" dirty="0"/>
          </a:p>
        </p:txBody>
      </p:sp>
      <p:sp>
        <p:nvSpPr>
          <p:cNvPr id="3" name="Text 0"/>
          <p:cNvSpPr/>
          <p:nvPr>
            <p:ph idx="100" type="title" hasCustomPrompt="1"/>
          </p:nvPr>
        </p:nvSpPr>
        <p:spPr>
          <a:xfrm>
            <a:off x="640080" y="2011680"/>
            <a:ext cx="5852160" cy="1463040"/>
          </a:xfrm>
          <a:prstGeom prst="rect">
            <a:avLst/>
          </a:prstGeom>
          <a:noFill/>
          <a:ln/>
        </p:spPr>
        <p:txBody>
          <a:bodyPr wrap="square" lIns="0" tIns="0" rIns="0" bIns="0" rtlCol="0" anchor="t"/>
          <a:lstStyle/>
          <a:p>
            <a:pPr algn="l" indent="0" marL="0">
              <a:buNone/>
            </a:pPr>
            <a:r>
              <a:rPr lang="en-US" sz="4800" b="1" dirty="0">
                <a:solidFill>
                  <a:schemeClr val="bg1"/>
                </a:solidFill>
                <a:latin typeface="Cambria" pitchFamily="34" charset="0"/>
                <a:ea typeface="Cambria" pitchFamily="34" charset="-122"/>
                <a:cs typeface="Cambria" pitchFamily="34" charset="-120"/>
              </a:rPr>
              <a:t>FoodLens AI</a:t>
            </a:r>
            <a:endParaRPr lang="en-US" sz="4800" dirty="0"/>
          </a:p>
        </p:txBody>
      </p:sp>
      <p:sp>
        <p:nvSpPr>
          <p:cNvPr id="4" name="Text 2"/>
          <p:cNvSpPr txBox="1"/>
          <p:nvPr/>
        </p:nvSpPr>
        <p:spPr>
          <a:xfrm>
            <a:off x="640080" y="3063240"/>
            <a:ext cx="5120640" cy="1005840"/>
          </a:xfrm>
          <a:prstGeom prst="rect">
            <a:avLst/>
          </a:prstGeom>
          <a:noFill/>
          <a:ln/>
        </p:spPr>
        <p:txBody>
          <a:bodyPr wrap="square" lIns="0" tIns="0" rIns="0" bIns="0" rtlCol="0" anchor="t"/>
          <a:lstStyle/>
          <a:p>
            <a:pPr indent="0" marL="0">
              <a:buNone/>
            </a:pPr>
            <a:r>
              <a:rPr lang="en-US" sz="2000" dirty="0">
                <a:solidFill>
                  <a:schemeClr val="accent3"/>
                </a:solidFill>
              </a:rPr>
              <a:t>Understand what’s on your plate — one food photo in, honest nutrition ranges compared with your goal.</a:t>
            </a:r>
            <a:endParaRPr lang="en-US" sz="2000" dirty="0"/>
          </a:p>
        </p:txBody>
      </p:sp>
      <p:sp>
        <p:nvSpPr>
          <p:cNvPr id="5" name="pill-React + TypeScript + Vite"/>
          <p:cNvSpPr/>
          <p:nvPr/>
        </p:nvSpPr>
        <p:spPr>
          <a:xfrm>
            <a:off x="640080" y="4389120"/>
            <a:ext cx="2514600" cy="329184"/>
          </a:xfrm>
          <a:prstGeom prst="roundRect">
            <a:avLst>
              <a:gd name="adj" fmla="val 50000"/>
            </a:avLst>
          </a:prstGeom>
          <a:solidFill>
            <a:schemeClr val="accent1"/>
          </a:solidFill>
          <a:ln w="12700">
            <a:solidFill>
              <a:schemeClr val="accent1"/>
            </a:solidFill>
            <a:prstDash val="solid"/>
          </a:ln>
        </p:spPr>
      </p:sp>
      <p:sp>
        <p:nvSpPr>
          <p:cNvPr id="6" name="Text 4"/>
          <p:cNvSpPr txBox="1"/>
          <p:nvPr/>
        </p:nvSpPr>
        <p:spPr>
          <a:xfrm>
            <a:off x="640080" y="4389120"/>
            <a:ext cx="2514600" cy="329184"/>
          </a:xfrm>
          <a:prstGeom prst="rect">
            <a:avLst/>
          </a:prstGeom>
          <a:noFill/>
          <a:ln/>
        </p:spPr>
        <p:txBody>
          <a:bodyPr wrap="square" lIns="0" tIns="0" rIns="0" bIns="0" rtlCol="0" anchor="ctr"/>
          <a:lstStyle/>
          <a:p>
            <a:pPr algn="ctr" indent="0" marL="0">
              <a:buNone/>
            </a:pPr>
            <a:r>
              <a:rPr lang="en-US" sz="1200" b="1" dirty="0">
                <a:solidFill>
                  <a:schemeClr val="accent3"/>
                </a:solidFill>
              </a:rPr>
              <a:t>React + TypeScript + Vite</a:t>
            </a:r>
            <a:endParaRPr lang="en-US" sz="1200" dirty="0"/>
          </a:p>
        </p:txBody>
      </p:sp>
      <p:sp>
        <p:nvSpPr>
          <p:cNvPr id="7" name="pill-Go net/http"/>
          <p:cNvSpPr/>
          <p:nvPr/>
        </p:nvSpPr>
        <p:spPr>
          <a:xfrm>
            <a:off x="3291840" y="4389120"/>
            <a:ext cx="1371600" cy="329184"/>
          </a:xfrm>
          <a:prstGeom prst="roundRect">
            <a:avLst>
              <a:gd name="adj" fmla="val 50000"/>
            </a:avLst>
          </a:prstGeom>
          <a:solidFill>
            <a:schemeClr val="accent1"/>
          </a:solidFill>
          <a:ln w="12700">
            <a:solidFill>
              <a:schemeClr val="accent1"/>
            </a:solidFill>
            <a:prstDash val="solid"/>
          </a:ln>
        </p:spPr>
      </p:sp>
      <p:sp>
        <p:nvSpPr>
          <p:cNvPr id="8" name="Text 6"/>
          <p:cNvSpPr txBox="1"/>
          <p:nvPr/>
        </p:nvSpPr>
        <p:spPr>
          <a:xfrm>
            <a:off x="3291840" y="4389120"/>
            <a:ext cx="1371600" cy="329184"/>
          </a:xfrm>
          <a:prstGeom prst="rect">
            <a:avLst/>
          </a:prstGeom>
          <a:noFill/>
          <a:ln/>
        </p:spPr>
        <p:txBody>
          <a:bodyPr wrap="square" lIns="0" tIns="0" rIns="0" bIns="0" rtlCol="0" anchor="ctr"/>
          <a:lstStyle/>
          <a:p>
            <a:pPr algn="ctr" indent="0" marL="0">
              <a:buNone/>
            </a:pPr>
            <a:r>
              <a:rPr lang="en-US" sz="1200" b="1" dirty="0">
                <a:solidFill>
                  <a:schemeClr val="accent3"/>
                </a:solidFill>
              </a:rPr>
              <a:t>Go net/http</a:t>
            </a:r>
            <a:endParaRPr lang="en-US" sz="1200" dirty="0"/>
          </a:p>
        </p:txBody>
      </p:sp>
      <p:sp>
        <p:nvSpPr>
          <p:cNvPr id="9" name="pill-Ollama Cloud · gemma4:31b"/>
          <p:cNvSpPr/>
          <p:nvPr/>
        </p:nvSpPr>
        <p:spPr>
          <a:xfrm>
            <a:off x="640080" y="4846320"/>
            <a:ext cx="2514600" cy="329184"/>
          </a:xfrm>
          <a:prstGeom prst="roundRect">
            <a:avLst>
              <a:gd name="adj" fmla="val 50000"/>
            </a:avLst>
          </a:prstGeom>
          <a:solidFill>
            <a:schemeClr val="accent1"/>
          </a:solidFill>
          <a:ln w="12700">
            <a:solidFill>
              <a:schemeClr val="accent1"/>
            </a:solidFill>
            <a:prstDash val="solid"/>
          </a:ln>
        </p:spPr>
      </p:sp>
      <p:sp>
        <p:nvSpPr>
          <p:cNvPr id="10" name="Text 8"/>
          <p:cNvSpPr txBox="1"/>
          <p:nvPr/>
        </p:nvSpPr>
        <p:spPr>
          <a:xfrm>
            <a:off x="640080" y="4846320"/>
            <a:ext cx="2514600" cy="329184"/>
          </a:xfrm>
          <a:prstGeom prst="rect">
            <a:avLst/>
          </a:prstGeom>
          <a:noFill/>
          <a:ln/>
        </p:spPr>
        <p:txBody>
          <a:bodyPr wrap="square" lIns="0" tIns="0" rIns="0" bIns="0" rtlCol="0" anchor="ctr"/>
          <a:lstStyle/>
          <a:p>
            <a:pPr algn="ctr" indent="0" marL="0">
              <a:buNone/>
            </a:pPr>
            <a:r>
              <a:rPr lang="en-US" sz="1200" b="1" dirty="0">
                <a:solidFill>
                  <a:schemeClr val="accent3"/>
                </a:solidFill>
              </a:rPr>
              <a:t>Ollama Cloud · gemma4:31b</a:t>
            </a:r>
            <a:endParaRPr lang="en-US" sz="1200" dirty="0"/>
          </a:p>
        </p:txBody>
      </p:sp>
      <p:sp>
        <p:nvSpPr>
          <p:cNvPr id="11" name="pill-61 tests passing"/>
          <p:cNvSpPr/>
          <p:nvPr/>
        </p:nvSpPr>
        <p:spPr>
          <a:xfrm>
            <a:off x="3291840" y="4846320"/>
            <a:ext cx="1737360" cy="329184"/>
          </a:xfrm>
          <a:prstGeom prst="roundRect">
            <a:avLst>
              <a:gd name="adj" fmla="val 50000"/>
            </a:avLst>
          </a:prstGeom>
          <a:solidFill>
            <a:schemeClr val="accent1"/>
          </a:solidFill>
          <a:ln w="12700">
            <a:solidFill>
              <a:schemeClr val="accent1"/>
            </a:solidFill>
            <a:prstDash val="solid"/>
          </a:ln>
        </p:spPr>
      </p:sp>
      <p:sp>
        <p:nvSpPr>
          <p:cNvPr id="12" name="Text 10"/>
          <p:cNvSpPr txBox="1"/>
          <p:nvPr/>
        </p:nvSpPr>
        <p:spPr>
          <a:xfrm>
            <a:off x="3291840" y="4846320"/>
            <a:ext cx="1737360" cy="329184"/>
          </a:xfrm>
          <a:prstGeom prst="rect">
            <a:avLst/>
          </a:prstGeom>
          <a:noFill/>
          <a:ln/>
        </p:spPr>
        <p:txBody>
          <a:bodyPr wrap="square" lIns="0" tIns="0" rIns="0" bIns="0" rtlCol="0" anchor="ctr"/>
          <a:lstStyle/>
          <a:p>
            <a:pPr algn="ctr" indent="0" marL="0">
              <a:buNone/>
            </a:pPr>
            <a:r>
              <a:rPr lang="en-US" sz="1200" b="1" dirty="0">
                <a:solidFill>
                  <a:schemeClr val="accent3"/>
                </a:solidFill>
              </a:rPr>
              <a:t>61 tests passing</a:t>
            </a:r>
            <a:endParaRPr lang="en-US" sz="1200" dirty="0"/>
          </a:p>
        </p:txBody>
      </p:sp>
      <p:sp>
        <p:nvSpPr>
          <p:cNvPr id="13" name="Text 11"/>
          <p:cNvSpPr txBox="1"/>
          <p:nvPr/>
        </p:nvSpPr>
        <p:spPr>
          <a:xfrm>
            <a:off x="640080" y="5760720"/>
            <a:ext cx="5029200" cy="365760"/>
          </a:xfrm>
          <a:prstGeom prst="rect">
            <a:avLst/>
          </a:prstGeom>
          <a:noFill/>
          <a:ln/>
        </p:spPr>
        <p:txBody>
          <a:bodyPr wrap="square" lIns="0" tIns="0" rIns="0" bIns="0" rtlCol="0" anchor="ctr"/>
          <a:lstStyle/>
          <a:p>
            <a:pPr indent="0" marL="0">
              <a:buNone/>
            </a:pPr>
            <a:r>
              <a:rPr lang="en-US" sz="1400" i="1" dirty="0">
                <a:solidFill>
                  <a:schemeClr val="accent6"/>
                </a:solidFill>
              </a:rPr>
              <a:t>One photo. A little more understanding.</a:t>
            </a:r>
            <a:endParaRPr lang="en-US" sz="1400" dirty="0"/>
          </a:p>
        </p:txBody>
      </p:sp>
      <p:sp>
        <p:nvSpPr>
          <p:cNvPr id="14" name="frame-landing.png"/>
          <p:cNvSpPr/>
          <p:nvPr/>
        </p:nvSpPr>
        <p:spPr>
          <a:xfrm>
            <a:off x="6172200" y="1299591"/>
            <a:ext cx="5577840" cy="3527298"/>
          </a:xfrm>
          <a:prstGeom prst="roundRect">
            <a:avLst>
              <a:gd name="adj" fmla="val 2074"/>
            </a:avLst>
          </a:prstGeom>
          <a:solidFill>
            <a:schemeClr val="bg1"/>
          </a:solidFill>
          <a:ln w="9525">
            <a:solidFill>
              <a:srgbClr val="DADFD6"/>
            </a:solidFill>
            <a:prstDash val="solid"/>
          </a:ln>
          <a:effectLst>
            <a:outerShdw sx="100000" sy="100000" kx="0" ky="0" algn="bl" rotWithShape="0" blurRad="177800" dist="38100" dir="5400000">
              <a:srgbClr val="1C2B24">
                <a:alpha val="16000"/>
              </a:srgbClr>
            </a:outerShdw>
          </a:effectLst>
        </p:spPr>
      </p:sp>
      <p:pic>
        <p:nvPicPr>
          <p:cNvPr id="15" name="img-landing.png" descr="FoodLens AI landing page">    </p:cNvPr>
          <p:cNvPicPr>
            <a:picLocks noChangeAspect="1"/>
          </p:cNvPicPr>
          <p:nvPr/>
        </p:nvPicPr>
        <p:blipFill>
          <a:blip r:embed="rId1"/>
          <a:stretch>
            <a:fillRect/>
          </a:stretch>
        </p:blipFill>
        <p:spPr>
          <a:xfrm>
            <a:off x="6227064" y="1354455"/>
            <a:ext cx="5468112" cy="3417570"/>
          </a:xfrm>
          <a:prstGeom prst="rect">
            <a:avLst/>
          </a:prstGeom>
        </p:spPr>
      </p:pic>
      <p:sp>
        <p:nvSpPr>
          <p:cNvPr id="16" name="Text 13"/>
          <p:cNvSpPr txBox="1"/>
          <p:nvPr/>
        </p:nvSpPr>
        <p:spPr>
          <a:xfrm>
            <a:off x="6263640" y="5074920"/>
            <a:ext cx="5029200" cy="274320"/>
          </a:xfrm>
          <a:prstGeom prst="rect">
            <a:avLst/>
          </a:prstGeom>
          <a:noFill/>
          <a:ln/>
        </p:spPr>
        <p:txBody>
          <a:bodyPr wrap="square" lIns="0" tIns="0" rIns="0" bIns="0" rtlCol="0" anchor="ctr"/>
          <a:lstStyle/>
          <a:p>
            <a:pPr indent="0" marL="0">
              <a:buNone/>
            </a:pPr>
            <a:r>
              <a:rPr lang="en-US" sz="1000" i="1" dirty="0">
                <a:solidFill>
                  <a:schemeClr val="accent6"/>
                </a:solidFill>
              </a:rPr>
              <a:t>Landing page of the running app</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01 · THE PROBLEM</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A photo can’t reveal exact calories</a:t>
            </a:r>
            <a:endParaRPr lang="en-US" sz="3400" dirty="0"/>
          </a:p>
        </p:txBody>
      </p:sp>
      <p:sp>
        <p:nvSpPr>
          <p:cNvPr id="4" name="Text 2"/>
          <p:cNvSpPr txBox="1"/>
          <p:nvPr/>
        </p:nvSpPr>
        <p:spPr>
          <a:xfrm>
            <a:off x="548640" y="1508760"/>
            <a:ext cx="4206240" cy="4206240"/>
          </a:xfrm>
          <a:prstGeom prst="rect">
            <a:avLst/>
          </a:prstGeom>
          <a:noFill/>
          <a:ln/>
        </p:spPr>
        <p:txBody>
          <a:bodyPr wrap="square" lIns="0" tIns="0" rIns="0" bIns="0" rtlCol="0" anchor="t"/>
          <a:lstStyle/>
          <a:p>
            <a:pPr marL="203200" indent="-203200">
              <a:spcAft>
                <a:spcPts val="1000"/>
              </a:spcAft>
              <a:buSzPct val="100000"/>
              <a:buChar char="•"/>
            </a:pPr>
            <a:r>
              <a:rPr lang="en-US" sz="1600" b="1" dirty="0">
                <a:solidFill>
                  <a:schemeClr val="tx1"/>
                </a:solidFill>
              </a:rPr>
              <a:t>People are curious </a:t>
            </a:r>
            <a:pPr indent="0" marL="0">
              <a:spcAft>
                <a:spcPts val="1000"/>
              </a:spcAft>
              <a:buNone/>
            </a:pPr>
            <a:r>
              <a:rPr lang="en-US" sz="1600" dirty="0">
                <a:solidFill>
                  <a:schemeClr val="tx1"/>
                </a:solidFill>
              </a:rPr>
              <a:t>about their meals but manual calorie diaries are tedious.</a:t>
            </a:r>
            <a:endParaRPr lang="en-US" sz="1600" dirty="0"/>
          </a:p>
          <a:p>
            <a:pPr marL="203200" indent="-203200">
              <a:spcAft>
                <a:spcPts val="1000"/>
              </a:spcAft>
              <a:buSzPct val="100000"/>
              <a:buChar char="•"/>
            </a:pPr>
            <a:r>
              <a:rPr lang="en-US" sz="1600" b="1" dirty="0">
                <a:solidFill>
                  <a:schemeClr val="tx1"/>
                </a:solidFill>
              </a:rPr>
              <a:t>One 2D photo hides a lot: </a:t>
            </a:r>
            <a:pPr indent="0" marL="0">
              <a:spcAft>
                <a:spcPts val="1000"/>
              </a:spcAft>
              <a:buNone/>
            </a:pPr>
            <a:r>
              <a:rPr lang="en-US" sz="1600" dirty="0">
                <a:solidFill>
                  <a:schemeClr val="tx1"/>
                </a:solidFill>
              </a:rPr>
              <a:t>oil, butter, dressings, portion depth and interior ingredients.</a:t>
            </a:r>
            <a:endParaRPr lang="en-US" sz="1600" dirty="0"/>
          </a:p>
          <a:p>
            <a:pPr marL="203200" indent="-203200">
              <a:spcAft>
                <a:spcPts val="1000"/>
              </a:spcAft>
              <a:buSzPct val="100000"/>
              <a:buChar char="•"/>
            </a:pPr>
            <a:r>
              <a:rPr lang="en-US" sz="1600" b="1" dirty="0">
                <a:solidFill>
                  <a:schemeClr val="tx1"/>
                </a:solidFill>
              </a:rPr>
              <a:t>Many apps fake precision </a:t>
            </a:r>
            <a:pPr indent="0" marL="0">
              <a:spcAft>
                <a:spcPts val="1000"/>
              </a:spcAft>
              <a:buNone/>
            </a:pPr>
            <a:r>
              <a:rPr lang="en-US" sz="1600" dirty="0">
                <a:solidFill>
                  <a:schemeClr val="tx1"/>
                </a:solidFill>
              </a:rPr>
              <a:t>with single numbers like “542 kcal”, implying a scientific measurement.</a:t>
            </a:r>
            <a:endParaRPr lang="en-US" sz="1600" dirty="0"/>
          </a:p>
          <a:p>
            <a:pPr marL="203200" indent="-203200">
              <a:spcAft>
                <a:spcPts val="1000"/>
              </a:spcAft>
              <a:buSzPct val="100000"/>
              <a:buChar char="•"/>
            </a:pPr>
            <a:r>
              <a:rPr lang="en-US" sz="1600" b="1" dirty="0">
                <a:solidFill>
                  <a:schemeClr val="tx1"/>
                </a:solidFill>
              </a:rPr>
              <a:t>FoodLens is honest: </a:t>
            </a:r>
            <a:pPr indent="0" marL="0">
              <a:spcAft>
                <a:spcPts val="1000"/>
              </a:spcAft>
              <a:buNone/>
            </a:pPr>
            <a:r>
              <a:rPr lang="en-US" sz="1600" dirty="0">
                <a:solidFill>
                  <a:schemeClr val="tx1"/>
                </a:solidFill>
              </a:rPr>
              <a:t>min–max ranges, stated serving assumptions and listed uncertainties.</a:t>
            </a:r>
            <a:endParaRPr lang="en-US" sz="1600" dirty="0"/>
          </a:p>
        </p:txBody>
      </p:sp>
      <p:sp>
        <p:nvSpPr>
          <p:cNvPr id="5" name="frame-s-gap.png"/>
          <p:cNvSpPr/>
          <p:nvPr/>
        </p:nvSpPr>
        <p:spPr>
          <a:xfrm>
            <a:off x="5120640" y="1508760"/>
            <a:ext cx="6537960" cy="3078302"/>
          </a:xfrm>
          <a:prstGeom prst="roundRect">
            <a:avLst>
              <a:gd name="adj" fmla="val 2376"/>
            </a:avLst>
          </a:prstGeom>
          <a:solidFill>
            <a:schemeClr val="bg1"/>
          </a:solidFill>
          <a:ln w="9525">
            <a:solidFill>
              <a:srgbClr val="DADFD6"/>
            </a:solidFill>
            <a:prstDash val="solid"/>
          </a:ln>
          <a:effectLst>
            <a:outerShdw sx="100000" sy="100000" kx="0" ky="0" algn="bl" rotWithShape="0" blurRad="177800" dist="38100" dir="5400000">
              <a:srgbClr val="1C2B24">
                <a:alpha val="16000"/>
              </a:srgbClr>
            </a:outerShdw>
          </a:effectLst>
        </p:spPr>
      </p:sp>
      <p:pic>
        <p:nvPicPr>
          <p:cNvPr id="6" name="img-s-gap.png" descr="The Photo Reality Gap section">    </p:cNvPr>
          <p:cNvPicPr>
            <a:picLocks noChangeAspect="1"/>
          </p:cNvPicPr>
          <p:nvPr/>
        </p:nvPicPr>
        <p:blipFill>
          <a:blip r:embed="rId1"/>
          <a:stretch>
            <a:fillRect/>
          </a:stretch>
        </p:blipFill>
        <p:spPr>
          <a:xfrm>
            <a:off x="5193792" y="1581912"/>
            <a:ext cx="6391656" cy="2931998"/>
          </a:xfrm>
          <a:prstGeom prst="rect">
            <a:avLst/>
          </a:prstGeom>
        </p:spPr>
      </p:pic>
      <p:sp>
        <p:nvSpPr>
          <p:cNvPr id="7" name="Text 4"/>
          <p:cNvSpPr txBox="1"/>
          <p:nvPr/>
        </p:nvSpPr>
        <p:spPr>
          <a:xfrm>
            <a:off x="5120640" y="4678502"/>
            <a:ext cx="6400800" cy="274320"/>
          </a:xfrm>
          <a:prstGeom prst="rect">
            <a:avLst/>
          </a:prstGeom>
          <a:noFill/>
          <a:ln/>
        </p:spPr>
        <p:txBody>
          <a:bodyPr wrap="square" lIns="0" tIns="0" rIns="0" bIns="0" rtlCol="0" anchor="ctr"/>
          <a:lstStyle/>
          <a:p>
            <a:pPr indent="0" marL="0">
              <a:buNone/>
            </a:pPr>
            <a:r>
              <a:rPr lang="en-US" sz="1000" i="1" dirty="0">
                <a:solidFill>
                  <a:srgbClr val="5F6B64"/>
                </a:solidFill>
              </a:rPr>
              <a:t>“The Photo Reality Gap” section from the FoodLens landing page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02 · THE PRODUCT</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Four steps from plate to comparison</a:t>
            </a:r>
            <a:endParaRPr lang="en-US" sz="3400" dirty="0"/>
          </a:p>
        </p:txBody>
      </p:sp>
      <p:sp>
        <p:nvSpPr>
          <p:cNvPr id="4" name="card-0.6-1.75"/>
          <p:cNvSpPr/>
          <p:nvPr/>
        </p:nvSpPr>
        <p:spPr>
          <a:xfrm>
            <a:off x="548640" y="1600200"/>
            <a:ext cx="2606040" cy="2148840"/>
          </a:xfrm>
          <a:prstGeom prst="roundRect">
            <a:avLst>
              <a:gd name="adj" fmla="val 5106"/>
            </a:avLst>
          </a:prstGeom>
          <a:solidFill>
            <a:schemeClr val="bg1"/>
          </a:solidFill>
          <a:ln w="9525">
            <a:solidFill>
              <a:srgbClr val="DADFD6"/>
            </a:solidFill>
            <a:prstDash val="solid"/>
          </a:ln>
          <a:effectLst>
            <a:outerShdw sx="100000" sy="100000" kx="0" ky="0" algn="bl" rotWithShape="0" blurRad="177800" dist="38100" dir="5400000">
              <a:srgbClr val="1C2B24">
                <a:alpha val="16000"/>
              </a:srgbClr>
            </a:outerShdw>
          </a:effectLst>
        </p:spPr>
      </p:sp>
      <p:sp>
        <p:nvSpPr>
          <p:cNvPr id="5" name="badge-1"/>
          <p:cNvSpPr/>
          <p:nvPr/>
        </p:nvSpPr>
        <p:spPr>
          <a:xfrm>
            <a:off x="777240" y="1856232"/>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777240" y="185623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01</a:t>
            </a:r>
            <a:endParaRPr lang="en-US" sz="1200" dirty="0"/>
          </a:p>
        </p:txBody>
      </p:sp>
      <p:sp>
        <p:nvSpPr>
          <p:cNvPr id="7" name="Text 5"/>
          <p:cNvSpPr txBox="1"/>
          <p:nvPr/>
        </p:nvSpPr>
        <p:spPr>
          <a:xfrm>
            <a:off x="777240" y="2350008"/>
            <a:ext cx="2194560" cy="36576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Snap or upload</a:t>
            </a:r>
            <a:endParaRPr lang="en-US" sz="1700" dirty="0"/>
          </a:p>
        </p:txBody>
      </p:sp>
      <p:sp>
        <p:nvSpPr>
          <p:cNvPr id="8" name="Text 6"/>
          <p:cNvSpPr txBox="1"/>
          <p:nvPr/>
        </p:nvSpPr>
        <p:spPr>
          <a:xfrm>
            <a:off x="777240" y="2761488"/>
            <a:ext cx="2194560" cy="914400"/>
          </a:xfrm>
          <a:prstGeom prst="rect">
            <a:avLst/>
          </a:prstGeom>
          <a:noFill/>
          <a:ln/>
        </p:spPr>
        <p:txBody>
          <a:bodyPr wrap="square" lIns="0" tIns="0" rIns="0" bIns="0" rtlCol="0" anchor="t"/>
          <a:lstStyle/>
          <a:p>
            <a:pPr indent="0" marL="0">
              <a:buNone/>
            </a:pPr>
            <a:r>
              <a:rPr lang="en-US" sz="1350" dirty="0">
                <a:solidFill>
                  <a:srgbClr val="4A5650"/>
                </a:solidFill>
              </a:rPr>
              <a:t>JPEG, PNG or WebP up to 5 MiB, or the browser camera. Nothing is sent until you choose Analyze.</a:t>
            </a:r>
            <a:endParaRPr lang="en-US" sz="1350" dirty="0"/>
          </a:p>
        </p:txBody>
      </p:sp>
      <p:sp>
        <p:nvSpPr>
          <p:cNvPr id="9" name="card-3.68-1.75"/>
          <p:cNvSpPr/>
          <p:nvPr/>
        </p:nvSpPr>
        <p:spPr>
          <a:xfrm>
            <a:off x="3364992" y="1600200"/>
            <a:ext cx="2606040" cy="2148840"/>
          </a:xfrm>
          <a:prstGeom prst="roundRect">
            <a:avLst>
              <a:gd name="adj" fmla="val 5106"/>
            </a:avLst>
          </a:prstGeom>
          <a:solidFill>
            <a:schemeClr val="bg1"/>
          </a:solidFill>
          <a:ln w="9525">
            <a:solidFill>
              <a:srgbClr val="DADFD6"/>
            </a:solidFill>
            <a:prstDash val="solid"/>
          </a:ln>
          <a:effectLst>
            <a:outerShdw sx="100000" sy="100000" kx="0" ky="0" algn="bl" rotWithShape="0" blurRad="177800" dist="38100" dir="5400000">
              <a:srgbClr val="1C2B24">
                <a:alpha val="16000"/>
              </a:srgbClr>
            </a:outerShdw>
          </a:effectLst>
        </p:spPr>
      </p:sp>
      <p:sp>
        <p:nvSpPr>
          <p:cNvPr id="10" name="badge-2"/>
          <p:cNvSpPr/>
          <p:nvPr/>
        </p:nvSpPr>
        <p:spPr>
          <a:xfrm>
            <a:off x="3593592" y="1856232"/>
            <a:ext cx="384048" cy="384048"/>
          </a:xfrm>
          <a:prstGeom prst="ellipse">
            <a:avLst/>
          </a:prstGeom>
          <a:solidFill>
            <a:schemeClr val="accent1"/>
          </a:solidFill>
          <a:ln w="12700">
            <a:solidFill>
              <a:schemeClr val="accent1"/>
            </a:solidFill>
            <a:prstDash val="solid"/>
          </a:ln>
        </p:spPr>
      </p:sp>
      <p:sp>
        <p:nvSpPr>
          <p:cNvPr id="11" name="Text 9"/>
          <p:cNvSpPr txBox="1"/>
          <p:nvPr/>
        </p:nvSpPr>
        <p:spPr>
          <a:xfrm>
            <a:off x="3593592" y="185623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02</a:t>
            </a:r>
            <a:endParaRPr lang="en-US" sz="1200" dirty="0"/>
          </a:p>
        </p:txBody>
      </p:sp>
      <p:sp>
        <p:nvSpPr>
          <p:cNvPr id="12" name="Text 10"/>
          <p:cNvSpPr txBox="1"/>
          <p:nvPr/>
        </p:nvSpPr>
        <p:spPr>
          <a:xfrm>
            <a:off x="3593592" y="2350008"/>
            <a:ext cx="2194560" cy="36576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AI vision analysis</a:t>
            </a:r>
            <a:endParaRPr lang="en-US" sz="1700" dirty="0"/>
          </a:p>
        </p:txBody>
      </p:sp>
      <p:sp>
        <p:nvSpPr>
          <p:cNvPr id="13" name="Text 11"/>
          <p:cNvSpPr txBox="1"/>
          <p:nvPr/>
        </p:nvSpPr>
        <p:spPr>
          <a:xfrm>
            <a:off x="3593592" y="2761488"/>
            <a:ext cx="2194560" cy="914400"/>
          </a:xfrm>
          <a:prstGeom prst="rect">
            <a:avLst/>
          </a:prstGeom>
          <a:noFill/>
          <a:ln/>
        </p:spPr>
        <p:txBody>
          <a:bodyPr wrap="square" lIns="0" tIns="0" rIns="0" bIns="0" rtlCol="0" anchor="t"/>
          <a:lstStyle/>
          <a:p>
            <a:pPr indent="0" marL="0">
              <a:buNone/>
            </a:pPr>
            <a:r>
              <a:rPr lang="en-US" sz="1350" dirty="0">
                <a:solidFill>
                  <a:srgbClr val="4A5650"/>
                </a:solidFill>
              </a:rPr>
              <a:t>Go validates the image and asks Ollama Cloud (gemma4:31b) for strict JSON.</a:t>
            </a:r>
            <a:endParaRPr lang="en-US" sz="1350" dirty="0"/>
          </a:p>
        </p:txBody>
      </p:sp>
      <p:sp>
        <p:nvSpPr>
          <p:cNvPr id="14" name="card-6.76-1.75"/>
          <p:cNvSpPr/>
          <p:nvPr/>
        </p:nvSpPr>
        <p:spPr>
          <a:xfrm>
            <a:off x="6181344" y="1600200"/>
            <a:ext cx="2606040" cy="2148840"/>
          </a:xfrm>
          <a:prstGeom prst="roundRect">
            <a:avLst>
              <a:gd name="adj" fmla="val 5106"/>
            </a:avLst>
          </a:prstGeom>
          <a:solidFill>
            <a:schemeClr val="bg1"/>
          </a:solidFill>
          <a:ln w="9525">
            <a:solidFill>
              <a:srgbClr val="DADFD6"/>
            </a:solidFill>
            <a:prstDash val="solid"/>
          </a:ln>
          <a:effectLst>
            <a:outerShdw sx="100000" sy="100000" kx="0" ky="0" algn="bl" rotWithShape="0" blurRad="177800" dist="38100" dir="5400000">
              <a:srgbClr val="1C2B24">
                <a:alpha val="16000"/>
              </a:srgbClr>
            </a:outerShdw>
          </a:effectLst>
        </p:spPr>
      </p:sp>
      <p:sp>
        <p:nvSpPr>
          <p:cNvPr id="15" name="badge-3"/>
          <p:cNvSpPr/>
          <p:nvPr/>
        </p:nvSpPr>
        <p:spPr>
          <a:xfrm>
            <a:off x="6409944" y="1856232"/>
            <a:ext cx="384048" cy="384048"/>
          </a:xfrm>
          <a:prstGeom prst="ellipse">
            <a:avLst/>
          </a:prstGeom>
          <a:solidFill>
            <a:schemeClr val="accent1"/>
          </a:solidFill>
          <a:ln w="12700">
            <a:solidFill>
              <a:schemeClr val="accent1"/>
            </a:solidFill>
            <a:prstDash val="solid"/>
          </a:ln>
        </p:spPr>
      </p:sp>
      <p:sp>
        <p:nvSpPr>
          <p:cNvPr id="16" name="Text 14"/>
          <p:cNvSpPr txBox="1"/>
          <p:nvPr/>
        </p:nvSpPr>
        <p:spPr>
          <a:xfrm>
            <a:off x="6409944" y="185623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03</a:t>
            </a:r>
            <a:endParaRPr lang="en-US" sz="1200" dirty="0"/>
          </a:p>
        </p:txBody>
      </p:sp>
      <p:sp>
        <p:nvSpPr>
          <p:cNvPr id="17" name="Text 15"/>
          <p:cNvSpPr txBox="1"/>
          <p:nvPr/>
        </p:nvSpPr>
        <p:spPr>
          <a:xfrm>
            <a:off x="6409944" y="2350008"/>
            <a:ext cx="2194560" cy="36576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Honest ranges</a:t>
            </a:r>
            <a:endParaRPr lang="en-US" sz="1700" dirty="0"/>
          </a:p>
        </p:txBody>
      </p:sp>
      <p:sp>
        <p:nvSpPr>
          <p:cNvPr id="18" name="Text 16"/>
          <p:cNvSpPr txBox="1"/>
          <p:nvPr/>
        </p:nvSpPr>
        <p:spPr>
          <a:xfrm>
            <a:off x="6409944" y="2761488"/>
            <a:ext cx="2194560" cy="914400"/>
          </a:xfrm>
          <a:prstGeom prst="rect">
            <a:avLst/>
          </a:prstGeom>
          <a:noFill/>
          <a:ln/>
        </p:spPr>
        <p:txBody>
          <a:bodyPr wrap="square" lIns="0" tIns="0" rIns="0" bIns="0" rtlCol="0" anchor="t"/>
          <a:lstStyle/>
          <a:p>
            <a:pPr indent="0" marL="0">
              <a:buNone/>
            </a:pPr>
            <a:r>
              <a:rPr lang="en-US" sz="1350" dirty="0">
                <a:solidFill>
                  <a:srgbClr val="4A5650"/>
                </a:solidFill>
              </a:rPr>
              <a:t>Likely dish, ingredients, min–max calories and macros, assumptions and uncertainty.</a:t>
            </a:r>
            <a:endParaRPr lang="en-US" sz="1350" dirty="0"/>
          </a:p>
        </p:txBody>
      </p:sp>
      <p:sp>
        <p:nvSpPr>
          <p:cNvPr id="19" name="card-9.84-1.75"/>
          <p:cNvSpPr/>
          <p:nvPr/>
        </p:nvSpPr>
        <p:spPr>
          <a:xfrm>
            <a:off x="8997696" y="1600200"/>
            <a:ext cx="2606040" cy="2148840"/>
          </a:xfrm>
          <a:prstGeom prst="roundRect">
            <a:avLst>
              <a:gd name="adj" fmla="val 5106"/>
            </a:avLst>
          </a:prstGeom>
          <a:solidFill>
            <a:schemeClr val="bg1"/>
          </a:solidFill>
          <a:ln w="9525">
            <a:solidFill>
              <a:srgbClr val="DADFD6"/>
            </a:solidFill>
            <a:prstDash val="solid"/>
          </a:ln>
          <a:effectLst>
            <a:outerShdw sx="100000" sy="100000" kx="0" ky="0" algn="bl" rotWithShape="0" blurRad="177800" dist="38100" dir="5400000">
              <a:srgbClr val="1C2B24">
                <a:alpha val="16000"/>
              </a:srgbClr>
            </a:outerShdw>
          </a:effectLst>
        </p:spPr>
      </p:sp>
      <p:sp>
        <p:nvSpPr>
          <p:cNvPr id="20" name="badge-4"/>
          <p:cNvSpPr/>
          <p:nvPr/>
        </p:nvSpPr>
        <p:spPr>
          <a:xfrm>
            <a:off x="9226296" y="1856232"/>
            <a:ext cx="384048" cy="384048"/>
          </a:xfrm>
          <a:prstGeom prst="ellipse">
            <a:avLst/>
          </a:prstGeom>
          <a:solidFill>
            <a:schemeClr val="accent1"/>
          </a:solidFill>
          <a:ln w="12700">
            <a:solidFill>
              <a:schemeClr val="accent1"/>
            </a:solidFill>
            <a:prstDash val="solid"/>
          </a:ln>
        </p:spPr>
      </p:sp>
      <p:sp>
        <p:nvSpPr>
          <p:cNvPr id="21" name="Text 19"/>
          <p:cNvSpPr txBox="1"/>
          <p:nvPr/>
        </p:nvSpPr>
        <p:spPr>
          <a:xfrm>
            <a:off x="9226296" y="185623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04</a:t>
            </a:r>
            <a:endParaRPr lang="en-US" sz="1200" dirty="0"/>
          </a:p>
        </p:txBody>
      </p:sp>
      <p:sp>
        <p:nvSpPr>
          <p:cNvPr id="22" name="Text 20"/>
          <p:cNvSpPr txBox="1"/>
          <p:nvPr/>
        </p:nvSpPr>
        <p:spPr>
          <a:xfrm>
            <a:off x="9226296" y="2350008"/>
            <a:ext cx="2194560" cy="36576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Compare with a goal</a:t>
            </a:r>
            <a:endParaRPr lang="en-US" sz="1700" dirty="0"/>
          </a:p>
        </p:txBody>
      </p:sp>
      <p:sp>
        <p:nvSpPr>
          <p:cNvPr id="23" name="Text 21"/>
          <p:cNvSpPr txBox="1"/>
          <p:nvPr/>
        </p:nvSpPr>
        <p:spPr>
          <a:xfrm>
            <a:off x="9226296" y="2761488"/>
            <a:ext cx="2194560" cy="914400"/>
          </a:xfrm>
          <a:prstGeom prst="rect">
            <a:avLst/>
          </a:prstGeom>
          <a:noFill/>
          <a:ln/>
        </p:spPr>
        <p:txBody>
          <a:bodyPr wrap="square" lIns="0" tIns="0" rIns="0" bIns="0" rtlCol="0" anchor="t"/>
          <a:lstStyle/>
          <a:p>
            <a:pPr indent="0" marL="0">
              <a:buNone/>
            </a:pPr>
            <a:r>
              <a:rPr lang="en-US" sz="1350" dirty="0">
                <a:solidFill>
                  <a:srgbClr val="4A5650"/>
                </a:solidFill>
              </a:rPr>
              <a:t>Pick Weight loss, Maintain or Weight gain to see each range against a reference.</a:t>
            </a:r>
            <a:endParaRPr lang="en-US" sz="1350" dirty="0"/>
          </a:p>
        </p:txBody>
      </p:sp>
      <p:sp>
        <p:nvSpPr>
          <p:cNvPr id="24" name="Text 22"/>
          <p:cNvSpPr txBox="1"/>
          <p:nvPr/>
        </p:nvSpPr>
        <p:spPr>
          <a:xfrm>
            <a:off x="548640" y="4069080"/>
            <a:ext cx="5486400" cy="365760"/>
          </a:xfrm>
          <a:prstGeom prst="rect">
            <a:avLst/>
          </a:prstGeom>
          <a:noFill/>
          <a:ln/>
        </p:spPr>
        <p:txBody>
          <a:bodyPr wrap="square" lIns="0" tIns="0" rIns="0" bIns="0" rtlCol="0" anchor="ctr"/>
          <a:lstStyle/>
          <a:p>
            <a:pPr indent="0" marL="0">
              <a:buNone/>
            </a:pPr>
            <a:r>
              <a:rPr lang="en-US" sz="1800" b="1" dirty="0">
                <a:solidFill>
                  <a:schemeClr val="tx2"/>
                </a:solidFill>
              </a:rPr>
              <a:t>In scope</a:t>
            </a:r>
            <a:endParaRPr lang="en-US" sz="1800" dirty="0"/>
          </a:p>
        </p:txBody>
      </p:sp>
      <p:sp>
        <p:nvSpPr>
          <p:cNvPr id="25" name="Text 23"/>
          <p:cNvSpPr txBox="1"/>
          <p:nvPr/>
        </p:nvSpPr>
        <p:spPr>
          <a:xfrm>
            <a:off x="548640" y="4526280"/>
            <a:ext cx="5394960" cy="164592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1"/>
                </a:solidFill>
              </a:rPr>
              <a:t>Upload, preview, camera capture, copy</a:t>
            </a:r>
            <a:endParaRPr lang="en-US" sz="1500" dirty="0"/>
          </a:p>
          <a:p>
            <a:pPr marL="203200" indent="-203200">
              <a:spcAft>
                <a:spcPts val="1000"/>
              </a:spcAft>
              <a:buSzPct val="100000"/>
              <a:buChar char="•"/>
            </a:pPr>
            <a:r>
              <a:rPr lang="en-US" sz="1500" dirty="0">
                <a:solidFill>
                  <a:schemeClr val="tx1"/>
                </a:solidFill>
              </a:rPr>
              <a:t>Ranges with “Unknown” allowed; safe unclear-photo handling</a:t>
            </a:r>
            <a:endParaRPr lang="en-US" sz="1500" dirty="0"/>
          </a:p>
          <a:p>
            <a:pPr marL="203200" indent="-203200">
              <a:spcAft>
                <a:spcPts val="1000"/>
              </a:spcAft>
              <a:buSzPct val="100000"/>
              <a:buChar char="•"/>
            </a:pPr>
            <a:r>
              <a:rPr lang="en-US" sz="1500" dirty="0">
                <a:solidFill>
                  <a:schemeClr val="tx1"/>
                </a:solidFill>
              </a:rPr>
              <a:t>Illustrative goal comparisons and colour-coded cards</a:t>
            </a:r>
            <a:endParaRPr lang="en-US" sz="1500" dirty="0"/>
          </a:p>
        </p:txBody>
      </p:sp>
      <p:sp>
        <p:nvSpPr>
          <p:cNvPr id="26" name="Text 24"/>
          <p:cNvSpPr txBox="1"/>
          <p:nvPr/>
        </p:nvSpPr>
        <p:spPr>
          <a:xfrm>
            <a:off x="6263640" y="4069080"/>
            <a:ext cx="5486400" cy="365760"/>
          </a:xfrm>
          <a:prstGeom prst="rect">
            <a:avLst/>
          </a:prstGeom>
          <a:noFill/>
          <a:ln/>
        </p:spPr>
        <p:txBody>
          <a:bodyPr wrap="square" lIns="0" tIns="0" rIns="0" bIns="0" rtlCol="0" anchor="ctr"/>
          <a:lstStyle/>
          <a:p>
            <a:pPr indent="0" marL="0">
              <a:buNone/>
            </a:pPr>
            <a:r>
              <a:rPr lang="en-US" sz="1800" b="1" dirty="0">
                <a:solidFill>
                  <a:schemeClr val="accent4"/>
                </a:solidFill>
              </a:rPr>
              <a:t>Deliberately out of scope</a:t>
            </a:r>
            <a:endParaRPr lang="en-US" sz="1800" dirty="0"/>
          </a:p>
        </p:txBody>
      </p:sp>
      <p:sp>
        <p:nvSpPr>
          <p:cNvPr id="27" name="Text 25"/>
          <p:cNvSpPr txBox="1"/>
          <p:nvPr/>
        </p:nvSpPr>
        <p:spPr>
          <a:xfrm>
            <a:off x="6263640" y="4526280"/>
            <a:ext cx="5394960" cy="164592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1"/>
                </a:solidFill>
              </a:rPr>
              <a:t>Accounts, database, result history, stored images</a:t>
            </a:r>
            <a:endParaRPr lang="en-US" sz="1500" dirty="0"/>
          </a:p>
          <a:p>
            <a:pPr marL="203200" indent="-203200">
              <a:spcAft>
                <a:spcPts val="1000"/>
              </a:spcAft>
              <a:buSzPct val="100000"/>
              <a:buChar char="•"/>
            </a:pPr>
            <a:r>
              <a:rPr lang="en-US" sz="1500" dirty="0">
                <a:solidFill>
                  <a:schemeClr val="tx1"/>
                </a:solidFill>
              </a:rPr>
              <a:t>Personal calorie calculations or diet plans</a:t>
            </a:r>
            <a:endParaRPr lang="en-US" sz="1500" dirty="0"/>
          </a:p>
          <a:p>
            <a:pPr marL="203200" indent="-203200">
              <a:spcAft>
                <a:spcPts val="1000"/>
              </a:spcAft>
              <a:buSzPct val="100000"/>
              <a:buChar char="•"/>
            </a:pPr>
            <a:r>
              <a:rPr lang="en-US" sz="1500" dirty="0">
                <a:solidFill>
                  <a:schemeClr val="tx1"/>
                </a:solidFill>
              </a:rPr>
              <a:t>Medical, allergen or weight-change promises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03 · USER JOURNEY</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Upload, scan, analyze</a:t>
            </a:r>
            <a:endParaRPr lang="en-US" sz="3400" dirty="0"/>
          </a:p>
        </p:txBody>
      </p:sp>
      <p:sp>
        <p:nvSpPr>
          <p:cNvPr id="4" name="frame-preview-card.png"/>
          <p:cNvSpPr/>
          <p:nvPr/>
        </p:nvSpPr>
        <p:spPr>
          <a:xfrm>
            <a:off x="548640" y="1926518"/>
            <a:ext cx="3383280" cy="3370724"/>
          </a:xfrm>
          <a:prstGeom prst="roundRect">
            <a:avLst>
              <a:gd name="adj" fmla="val 2170"/>
            </a:avLst>
          </a:prstGeom>
          <a:solidFill>
            <a:schemeClr val="bg1"/>
          </a:solidFill>
          <a:ln w="9525">
            <a:solidFill>
              <a:srgbClr val="DADFD6"/>
            </a:solidFill>
            <a:prstDash val="solid"/>
          </a:ln>
          <a:effectLst>
            <a:outerShdw sx="100000" sy="100000" kx="0" ky="0" algn="bl" rotWithShape="0" blurRad="177800" dist="38100" dir="5400000">
              <a:srgbClr val="1C2B24">
                <a:alpha val="16000"/>
              </a:srgbClr>
            </a:outerShdw>
          </a:effectLst>
        </p:spPr>
      </p:sp>
      <p:pic>
        <p:nvPicPr>
          <p:cNvPr id="5" name="img-preview-card.png" descr="Upload card with preview">    </p:cNvPr>
          <p:cNvPicPr>
            <a:picLocks noChangeAspect="1"/>
          </p:cNvPicPr>
          <p:nvPr/>
        </p:nvPicPr>
        <p:blipFill>
          <a:blip r:embed="rId1"/>
          <a:stretch>
            <a:fillRect/>
          </a:stretch>
        </p:blipFill>
        <p:spPr>
          <a:xfrm>
            <a:off x="621792" y="1999670"/>
            <a:ext cx="3236976" cy="3224420"/>
          </a:xfrm>
          <a:prstGeom prst="rect">
            <a:avLst/>
          </a:prstGeom>
        </p:spPr>
      </p:pic>
      <p:sp>
        <p:nvSpPr>
          <p:cNvPr id="6" name="Text 3"/>
          <p:cNvSpPr txBox="1"/>
          <p:nvPr/>
        </p:nvSpPr>
        <p:spPr>
          <a:xfrm>
            <a:off x="548640" y="5388682"/>
            <a:ext cx="3383280" cy="274320"/>
          </a:xfrm>
          <a:prstGeom prst="rect">
            <a:avLst/>
          </a:prstGeom>
          <a:noFill/>
          <a:ln/>
        </p:spPr>
        <p:txBody>
          <a:bodyPr wrap="square" lIns="0" tIns="0" rIns="0" bIns="0" rtlCol="0" anchor="ctr"/>
          <a:lstStyle/>
          <a:p>
            <a:pPr indent="0" marL="0">
              <a:buNone/>
            </a:pPr>
            <a:r>
              <a:rPr lang="en-US" sz="1000" i="1" dirty="0">
                <a:solidFill>
                  <a:srgbClr val="5F6B64"/>
                </a:solidFill>
              </a:rPr>
              <a:t>1 · Photo selected and previewed</a:t>
            </a:r>
            <a:endParaRPr lang="en-US" sz="1000" dirty="0"/>
          </a:p>
        </p:txBody>
      </p:sp>
      <p:sp>
        <p:nvSpPr>
          <p:cNvPr id="7" name="arrow1"/>
          <p:cNvSpPr/>
          <p:nvPr/>
        </p:nvSpPr>
        <p:spPr>
          <a:xfrm>
            <a:off x="4023360" y="3429000"/>
            <a:ext cx="411480" cy="365760"/>
          </a:xfrm>
          <a:prstGeom prst="rightArrow">
            <a:avLst/>
          </a:prstGeom>
          <a:solidFill>
            <a:schemeClr val="accent2"/>
          </a:solidFill>
          <a:ln w="12700">
            <a:solidFill>
              <a:schemeClr val="accent2"/>
            </a:solidFill>
            <a:prstDash val="solid"/>
          </a:ln>
        </p:spPr>
      </p:sp>
      <p:sp>
        <p:nvSpPr>
          <p:cNvPr id="8" name="frame-loading-panel.png"/>
          <p:cNvSpPr/>
          <p:nvPr/>
        </p:nvSpPr>
        <p:spPr>
          <a:xfrm>
            <a:off x="4526280" y="2408022"/>
            <a:ext cx="3383280" cy="2407717"/>
          </a:xfrm>
          <a:prstGeom prst="roundRect">
            <a:avLst>
              <a:gd name="adj" fmla="val 3038"/>
            </a:avLst>
          </a:prstGeom>
          <a:solidFill>
            <a:schemeClr val="bg1"/>
          </a:solidFill>
          <a:ln w="9525">
            <a:solidFill>
              <a:srgbClr val="DADFD6"/>
            </a:solidFill>
            <a:prstDash val="solid"/>
          </a:ln>
          <a:effectLst>
            <a:outerShdw sx="100000" sy="100000" kx="0" ky="0" algn="bl" rotWithShape="0" blurRad="177800" dist="38100" dir="5400000">
              <a:srgbClr val="1C2B24">
                <a:alpha val="16000"/>
              </a:srgbClr>
            </a:outerShdw>
          </a:effectLst>
        </p:spPr>
      </p:sp>
      <p:pic>
        <p:nvPicPr>
          <p:cNvPr id="9" name="img-loading-panel.png" descr="AI plate scanner while analyzing">    </p:cNvPr>
          <p:cNvPicPr>
            <a:picLocks noChangeAspect="1"/>
          </p:cNvPicPr>
          <p:nvPr/>
        </p:nvPicPr>
        <p:blipFill>
          <a:blip r:embed="rId2"/>
          <a:stretch>
            <a:fillRect/>
          </a:stretch>
        </p:blipFill>
        <p:spPr>
          <a:xfrm>
            <a:off x="4599432" y="2481174"/>
            <a:ext cx="3236976" cy="2261413"/>
          </a:xfrm>
          <a:prstGeom prst="rect">
            <a:avLst/>
          </a:prstGeom>
        </p:spPr>
      </p:pic>
      <p:sp>
        <p:nvSpPr>
          <p:cNvPr id="10" name="Text 6"/>
          <p:cNvSpPr txBox="1"/>
          <p:nvPr/>
        </p:nvSpPr>
        <p:spPr>
          <a:xfrm>
            <a:off x="4526280" y="4907178"/>
            <a:ext cx="3383280" cy="274320"/>
          </a:xfrm>
          <a:prstGeom prst="rect">
            <a:avLst/>
          </a:prstGeom>
          <a:noFill/>
          <a:ln/>
        </p:spPr>
        <p:txBody>
          <a:bodyPr wrap="square" lIns="0" tIns="0" rIns="0" bIns="0" rtlCol="0" anchor="ctr"/>
          <a:lstStyle/>
          <a:p>
            <a:pPr indent="0" marL="0">
              <a:buNone/>
            </a:pPr>
            <a:r>
              <a:rPr lang="en-US" sz="1000" i="1" dirty="0">
                <a:solidFill>
                  <a:srgbClr val="5F6B64"/>
                </a:solidFill>
              </a:rPr>
              <a:t>2 · AI plate scanner while analyzing</a:t>
            </a:r>
            <a:endParaRPr lang="en-US" sz="1000" dirty="0"/>
          </a:p>
        </p:txBody>
      </p:sp>
      <p:sp>
        <p:nvSpPr>
          <p:cNvPr id="11" name="arrow2"/>
          <p:cNvSpPr/>
          <p:nvPr/>
        </p:nvSpPr>
        <p:spPr>
          <a:xfrm>
            <a:off x="8001000" y="3429000"/>
            <a:ext cx="411480" cy="365760"/>
          </a:xfrm>
          <a:prstGeom prst="rightArrow">
            <a:avLst/>
          </a:prstGeom>
          <a:solidFill>
            <a:schemeClr val="accent2"/>
          </a:solidFill>
          <a:ln w="12700">
            <a:solidFill>
              <a:schemeClr val="accent2"/>
            </a:solidFill>
            <a:prstDash val="solid"/>
          </a:ln>
        </p:spPr>
      </p:sp>
      <p:sp>
        <p:nvSpPr>
          <p:cNvPr id="12" name="frame-result-summary.png"/>
          <p:cNvSpPr/>
          <p:nvPr/>
        </p:nvSpPr>
        <p:spPr>
          <a:xfrm>
            <a:off x="8503920" y="2204387"/>
            <a:ext cx="3154680" cy="2814985"/>
          </a:xfrm>
          <a:prstGeom prst="roundRect">
            <a:avLst>
              <a:gd name="adj" fmla="val 2599"/>
            </a:avLst>
          </a:prstGeom>
          <a:solidFill>
            <a:schemeClr val="bg1"/>
          </a:solidFill>
          <a:ln w="9525">
            <a:solidFill>
              <a:srgbClr val="DADFD6"/>
            </a:solidFill>
            <a:prstDash val="solid"/>
          </a:ln>
          <a:effectLst>
            <a:outerShdw sx="100000" sy="100000" kx="0" ky="0" algn="bl" rotWithShape="0" blurRad="177800" dist="38100" dir="5400000">
              <a:srgbClr val="1C2B24">
                <a:alpha val="16000"/>
              </a:srgbClr>
            </a:outerShdw>
          </a:effectLst>
        </p:spPr>
      </p:sp>
      <p:pic>
        <p:nvPicPr>
          <p:cNvPr id="13" name="img-result-summary.png" descr="Result summary">    </p:cNvPr>
          <p:cNvPicPr>
            <a:picLocks noChangeAspect="1"/>
          </p:cNvPicPr>
          <p:nvPr/>
        </p:nvPicPr>
        <p:blipFill>
          <a:blip r:embed="rId3"/>
          <a:stretch>
            <a:fillRect/>
          </a:stretch>
        </p:blipFill>
        <p:spPr>
          <a:xfrm>
            <a:off x="8577072" y="2277539"/>
            <a:ext cx="3008376" cy="2668681"/>
          </a:xfrm>
          <a:prstGeom prst="rect">
            <a:avLst/>
          </a:prstGeom>
        </p:spPr>
      </p:pic>
      <p:sp>
        <p:nvSpPr>
          <p:cNvPr id="14" name="Text 9"/>
          <p:cNvSpPr txBox="1"/>
          <p:nvPr/>
        </p:nvSpPr>
        <p:spPr>
          <a:xfrm>
            <a:off x="8503920" y="5110813"/>
            <a:ext cx="3200400" cy="274320"/>
          </a:xfrm>
          <a:prstGeom prst="rect">
            <a:avLst/>
          </a:prstGeom>
          <a:noFill/>
          <a:ln/>
        </p:spPr>
        <p:txBody>
          <a:bodyPr wrap="square" lIns="0" tIns="0" rIns="0" bIns="0" rtlCol="0" anchor="ctr"/>
          <a:lstStyle/>
          <a:p>
            <a:pPr indent="0" marL="0">
              <a:buNone/>
            </a:pPr>
            <a:r>
              <a:rPr lang="en-US" sz="1000" i="1" dirty="0">
                <a:solidFill>
                  <a:srgbClr val="5F6B64"/>
                </a:solidFill>
              </a:rPr>
              <a:t>3 · Result with pinned summary (sample)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04 · THE RESULT</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Every nutrient shows its uncertainty</a:t>
            </a:r>
            <a:endParaRPr lang="en-US" sz="3400" dirty="0"/>
          </a:p>
        </p:txBody>
      </p:sp>
      <p:sp>
        <p:nvSpPr>
          <p:cNvPr id="4" name="frame-cards-maintain.png"/>
          <p:cNvSpPr/>
          <p:nvPr/>
        </p:nvSpPr>
        <p:spPr>
          <a:xfrm>
            <a:off x="1197144" y="1417320"/>
            <a:ext cx="3823632" cy="4572000"/>
          </a:xfrm>
          <a:prstGeom prst="roundRect">
            <a:avLst>
              <a:gd name="adj" fmla="val 1913"/>
            </a:avLst>
          </a:prstGeom>
          <a:solidFill>
            <a:schemeClr val="bg1"/>
          </a:solidFill>
          <a:ln w="9525">
            <a:solidFill>
              <a:srgbClr val="DADFD6"/>
            </a:solidFill>
            <a:prstDash val="solid"/>
          </a:ln>
          <a:effectLst>
            <a:outerShdw sx="100000" sy="100000" kx="0" ky="0" algn="bl" rotWithShape="0" blurRad="177800" dist="38100" dir="5400000">
              <a:srgbClr val="1C2B24">
                <a:alpha val="16000"/>
              </a:srgbClr>
            </a:outerShdw>
          </a:effectLst>
        </p:spPr>
      </p:sp>
      <p:pic>
        <p:nvPicPr>
          <p:cNvPr id="5" name="img-cards-maintain.png" descr="Nutrition comparison cards, Maintain weight">    </p:cNvPr>
          <p:cNvPicPr>
            <a:picLocks noChangeAspect="1"/>
          </p:cNvPicPr>
          <p:nvPr/>
        </p:nvPicPr>
        <p:blipFill>
          <a:blip r:embed="rId1"/>
          <a:stretch>
            <a:fillRect/>
          </a:stretch>
        </p:blipFill>
        <p:spPr>
          <a:xfrm>
            <a:off x="1270296" y="1490472"/>
            <a:ext cx="3677328" cy="4425696"/>
          </a:xfrm>
          <a:prstGeom prst="rect">
            <a:avLst/>
          </a:prstGeom>
        </p:spPr>
      </p:pic>
      <p:sp>
        <p:nvSpPr>
          <p:cNvPr id="6" name="Text 3"/>
          <p:cNvSpPr txBox="1"/>
          <p:nvPr/>
        </p:nvSpPr>
        <p:spPr>
          <a:xfrm>
            <a:off x="1197144" y="6062472"/>
            <a:ext cx="5029200" cy="274320"/>
          </a:xfrm>
          <a:prstGeom prst="rect">
            <a:avLst/>
          </a:prstGeom>
          <a:noFill/>
          <a:ln/>
        </p:spPr>
        <p:txBody>
          <a:bodyPr wrap="square" lIns="0" tIns="0" rIns="0" bIns="0" rtlCol="0" anchor="ctr"/>
          <a:lstStyle/>
          <a:p>
            <a:pPr indent="0" marL="0">
              <a:buNone/>
            </a:pPr>
            <a:r>
              <a:rPr lang="en-US" sz="1000" i="1" dirty="0">
                <a:solidFill>
                  <a:srgbClr val="5F6B64"/>
                </a:solidFill>
              </a:rPr>
              <a:t>Maintain weight selected · sample response</a:t>
            </a:r>
            <a:endParaRPr lang="en-US" sz="1000" dirty="0"/>
          </a:p>
        </p:txBody>
      </p:sp>
      <p:sp>
        <p:nvSpPr>
          <p:cNvPr id="7" name="badge-1"/>
          <p:cNvSpPr/>
          <p:nvPr/>
        </p:nvSpPr>
        <p:spPr>
          <a:xfrm>
            <a:off x="6035040" y="1490472"/>
            <a:ext cx="384048" cy="384048"/>
          </a:xfrm>
          <a:prstGeom prst="ellipse">
            <a:avLst/>
          </a:prstGeom>
          <a:solidFill>
            <a:schemeClr val="accent3"/>
          </a:solidFill>
          <a:ln w="12700">
            <a:solidFill>
              <a:schemeClr val="accent3"/>
            </a:solidFill>
            <a:prstDash val="solid"/>
          </a:ln>
        </p:spPr>
      </p:sp>
      <p:sp>
        <p:nvSpPr>
          <p:cNvPr id="8" name="Text 5"/>
          <p:cNvSpPr txBox="1"/>
          <p:nvPr/>
        </p:nvSpPr>
        <p:spPr>
          <a:xfrm>
            <a:off x="6035040" y="1490472"/>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rPr>
              <a:t>01</a:t>
            </a:r>
            <a:endParaRPr lang="en-US" sz="1200" dirty="0"/>
          </a:p>
        </p:txBody>
      </p:sp>
      <p:sp>
        <p:nvSpPr>
          <p:cNvPr id="9" name="Text 6"/>
          <p:cNvSpPr txBox="1"/>
          <p:nvPr/>
        </p:nvSpPr>
        <p:spPr>
          <a:xfrm>
            <a:off x="6583680" y="1463040"/>
            <a:ext cx="5029200" cy="365760"/>
          </a:xfrm>
          <a:prstGeom prst="rect">
            <a:avLst/>
          </a:prstGeom>
          <a:noFill/>
          <a:ln/>
        </p:spPr>
        <p:txBody>
          <a:bodyPr wrap="square" lIns="0" tIns="0" rIns="0" bIns="0" rtlCol="0" anchor="ctr"/>
          <a:lstStyle/>
          <a:p>
            <a:pPr indent="0" marL="0">
              <a:buNone/>
            </a:pPr>
            <a:r>
              <a:rPr lang="en-US" sz="1700" b="1" dirty="0">
                <a:solidFill>
                  <a:schemeClr val="tx2"/>
                </a:solidFill>
              </a:rPr>
              <a:t>Range first</a:t>
            </a:r>
            <a:endParaRPr lang="en-US" sz="1700" dirty="0"/>
          </a:p>
        </p:txBody>
      </p:sp>
      <p:sp>
        <p:nvSpPr>
          <p:cNvPr id="10" name="Text 7"/>
          <p:cNvSpPr txBox="1"/>
          <p:nvPr/>
        </p:nvSpPr>
        <p:spPr>
          <a:xfrm>
            <a:off x="6583680" y="1847088"/>
            <a:ext cx="5074920" cy="502920"/>
          </a:xfrm>
          <a:prstGeom prst="rect">
            <a:avLst/>
          </a:prstGeom>
          <a:noFill/>
          <a:ln/>
        </p:spPr>
        <p:txBody>
          <a:bodyPr wrap="square" lIns="0" tIns="0" rIns="0" bIns="0" rtlCol="0" anchor="t"/>
          <a:lstStyle/>
          <a:p>
            <a:pPr indent="0" marL="0">
              <a:buNone/>
            </a:pPr>
            <a:r>
              <a:rPr lang="en-US" sz="1400" dirty="0">
                <a:solidFill>
                  <a:srgbClr val="4A5650"/>
                </a:solidFill>
              </a:rPr>
              <a:t>Calories, protein, carbs and fat are min–max ranges; a nutrient can be “Unknown”.</a:t>
            </a:r>
            <a:endParaRPr lang="en-US" sz="1400" dirty="0"/>
          </a:p>
        </p:txBody>
      </p:sp>
      <p:sp>
        <p:nvSpPr>
          <p:cNvPr id="11" name="badge-2"/>
          <p:cNvSpPr/>
          <p:nvPr/>
        </p:nvSpPr>
        <p:spPr>
          <a:xfrm>
            <a:off x="6035040" y="2423160"/>
            <a:ext cx="384048" cy="384048"/>
          </a:xfrm>
          <a:prstGeom prst="ellipse">
            <a:avLst/>
          </a:prstGeom>
          <a:solidFill>
            <a:schemeClr val="accent3"/>
          </a:solidFill>
          <a:ln w="12700">
            <a:solidFill>
              <a:schemeClr val="accent3"/>
            </a:solidFill>
            <a:prstDash val="solid"/>
          </a:ln>
        </p:spPr>
      </p:sp>
      <p:sp>
        <p:nvSpPr>
          <p:cNvPr id="12" name="Text 9"/>
          <p:cNvSpPr txBox="1"/>
          <p:nvPr/>
        </p:nvSpPr>
        <p:spPr>
          <a:xfrm>
            <a:off x="6035040" y="2423160"/>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rPr>
              <a:t>02</a:t>
            </a:r>
            <a:endParaRPr lang="en-US" sz="1200" dirty="0"/>
          </a:p>
        </p:txBody>
      </p:sp>
      <p:sp>
        <p:nvSpPr>
          <p:cNvPr id="13" name="Text 10"/>
          <p:cNvSpPr txBox="1"/>
          <p:nvPr/>
        </p:nvSpPr>
        <p:spPr>
          <a:xfrm>
            <a:off x="6583680" y="2395728"/>
            <a:ext cx="5029200" cy="365760"/>
          </a:xfrm>
          <a:prstGeom prst="rect">
            <a:avLst/>
          </a:prstGeom>
          <a:noFill/>
          <a:ln/>
        </p:spPr>
        <p:txBody>
          <a:bodyPr wrap="square" lIns="0" tIns="0" rIns="0" bIns="0" rtlCol="0" anchor="ctr"/>
          <a:lstStyle/>
          <a:p>
            <a:pPr indent="0" marL="0">
              <a:buNone/>
            </a:pPr>
            <a:r>
              <a:rPr lang="en-US" sz="1700" b="1" dirty="0">
                <a:solidFill>
                  <a:schemeClr val="tx2"/>
                </a:solidFill>
              </a:rPr>
              <a:t>Approximate midpoint</a:t>
            </a:r>
            <a:endParaRPr lang="en-US" sz="1700" dirty="0"/>
          </a:p>
        </p:txBody>
      </p:sp>
      <p:sp>
        <p:nvSpPr>
          <p:cNvPr id="14" name="Text 11"/>
          <p:cNvSpPr txBox="1"/>
          <p:nvPr/>
        </p:nvSpPr>
        <p:spPr>
          <a:xfrm>
            <a:off x="6583680" y="2779776"/>
            <a:ext cx="5074920" cy="502920"/>
          </a:xfrm>
          <a:prstGeom prst="rect">
            <a:avLst/>
          </a:prstGeom>
          <a:noFill/>
          <a:ln/>
        </p:spPr>
        <p:txBody>
          <a:bodyPr wrap="square" lIns="0" tIns="0" rIns="0" bIns="0" rtlCol="0" anchor="t"/>
          <a:lstStyle/>
          <a:p>
            <a:pPr indent="0" marL="0">
              <a:buNone/>
            </a:pPr>
            <a:r>
              <a:rPr lang="en-US" sz="1400" dirty="0">
                <a:solidFill>
                  <a:srgbClr val="4A5650"/>
                </a:solidFill>
              </a:rPr>
              <a:t>A summary of the range, clearly labelled as not a measured value.</a:t>
            </a:r>
            <a:endParaRPr lang="en-US" sz="1400" dirty="0"/>
          </a:p>
        </p:txBody>
      </p:sp>
      <p:sp>
        <p:nvSpPr>
          <p:cNvPr id="15" name="badge-3"/>
          <p:cNvSpPr/>
          <p:nvPr/>
        </p:nvSpPr>
        <p:spPr>
          <a:xfrm>
            <a:off x="6035040" y="3355848"/>
            <a:ext cx="384048" cy="384048"/>
          </a:xfrm>
          <a:prstGeom prst="ellipse">
            <a:avLst/>
          </a:prstGeom>
          <a:solidFill>
            <a:schemeClr val="accent3"/>
          </a:solidFill>
          <a:ln w="12700">
            <a:solidFill>
              <a:schemeClr val="accent3"/>
            </a:solidFill>
            <a:prstDash val="solid"/>
          </a:ln>
        </p:spPr>
      </p:sp>
      <p:sp>
        <p:nvSpPr>
          <p:cNvPr id="16" name="Text 13"/>
          <p:cNvSpPr txBox="1"/>
          <p:nvPr/>
        </p:nvSpPr>
        <p:spPr>
          <a:xfrm>
            <a:off x="6035040" y="3355848"/>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rPr>
              <a:t>03</a:t>
            </a:r>
            <a:endParaRPr lang="en-US" sz="1200" dirty="0"/>
          </a:p>
        </p:txBody>
      </p:sp>
      <p:sp>
        <p:nvSpPr>
          <p:cNvPr id="17" name="Text 14"/>
          <p:cNvSpPr txBox="1"/>
          <p:nvPr/>
        </p:nvSpPr>
        <p:spPr>
          <a:xfrm>
            <a:off x="6583680" y="3328416"/>
            <a:ext cx="5029200" cy="365760"/>
          </a:xfrm>
          <a:prstGeom prst="rect">
            <a:avLst/>
          </a:prstGeom>
          <a:noFill/>
          <a:ln/>
        </p:spPr>
        <p:txBody>
          <a:bodyPr wrap="square" lIns="0" tIns="0" rIns="0" bIns="0" rtlCol="0" anchor="ctr"/>
          <a:lstStyle/>
          <a:p>
            <a:pPr indent="0" marL="0">
              <a:buNone/>
            </a:pPr>
            <a:r>
              <a:rPr lang="en-US" sz="1700" b="1" dirty="0">
                <a:solidFill>
                  <a:schemeClr val="tx2"/>
                </a:solidFill>
              </a:rPr>
              <a:t>Goal reference + badge</a:t>
            </a:r>
            <a:endParaRPr lang="en-US" sz="1700" dirty="0"/>
          </a:p>
        </p:txBody>
      </p:sp>
      <p:sp>
        <p:nvSpPr>
          <p:cNvPr id="18" name="Text 15"/>
          <p:cNvSpPr txBox="1"/>
          <p:nvPr/>
        </p:nvSpPr>
        <p:spPr>
          <a:xfrm>
            <a:off x="6583680" y="3712464"/>
            <a:ext cx="5074920" cy="502920"/>
          </a:xfrm>
          <a:prstGeom prst="rect">
            <a:avLst/>
          </a:prstGeom>
          <a:noFill/>
          <a:ln/>
        </p:spPr>
        <p:txBody>
          <a:bodyPr wrap="square" lIns="0" tIns="0" rIns="0" bIns="0" rtlCol="0" anchor="t"/>
          <a:lstStyle/>
          <a:p>
            <a:pPr indent="0" marL="0">
              <a:buNone/>
            </a:pPr>
            <a:r>
              <a:rPr lang="en-US" sz="1400" dirty="0">
                <a:solidFill>
                  <a:srgbClr val="4A5650"/>
                </a:solidFill>
              </a:rPr>
              <a:t>Text badge says Above, Below or Includes, so meaning never relies on colour alone.</a:t>
            </a:r>
            <a:endParaRPr lang="en-US" sz="1400" dirty="0"/>
          </a:p>
        </p:txBody>
      </p:sp>
      <p:sp>
        <p:nvSpPr>
          <p:cNvPr id="19" name="badge-4"/>
          <p:cNvSpPr/>
          <p:nvPr/>
        </p:nvSpPr>
        <p:spPr>
          <a:xfrm>
            <a:off x="6035040" y="4288536"/>
            <a:ext cx="384048" cy="384048"/>
          </a:xfrm>
          <a:prstGeom prst="ellipse">
            <a:avLst/>
          </a:prstGeom>
          <a:solidFill>
            <a:schemeClr val="accent3"/>
          </a:solidFill>
          <a:ln w="12700">
            <a:solidFill>
              <a:schemeClr val="accent3"/>
            </a:solidFill>
            <a:prstDash val="solid"/>
          </a:ln>
        </p:spPr>
      </p:sp>
      <p:sp>
        <p:nvSpPr>
          <p:cNvPr id="20" name="Text 17"/>
          <p:cNvSpPr txBox="1"/>
          <p:nvPr/>
        </p:nvSpPr>
        <p:spPr>
          <a:xfrm>
            <a:off x="6035040" y="4288536"/>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rPr>
              <a:t>04</a:t>
            </a:r>
            <a:endParaRPr lang="en-US" sz="1200" dirty="0"/>
          </a:p>
        </p:txBody>
      </p:sp>
      <p:sp>
        <p:nvSpPr>
          <p:cNvPr id="21" name="Text 18"/>
          <p:cNvSpPr txBox="1"/>
          <p:nvPr/>
        </p:nvSpPr>
        <p:spPr>
          <a:xfrm>
            <a:off x="6583680" y="4261104"/>
            <a:ext cx="5029200" cy="365760"/>
          </a:xfrm>
          <a:prstGeom prst="rect">
            <a:avLst/>
          </a:prstGeom>
          <a:noFill/>
          <a:ln/>
        </p:spPr>
        <p:txBody>
          <a:bodyPr wrap="square" lIns="0" tIns="0" rIns="0" bIns="0" rtlCol="0" anchor="ctr"/>
          <a:lstStyle/>
          <a:p>
            <a:pPr indent="0" marL="0">
              <a:buNone/>
            </a:pPr>
            <a:r>
              <a:rPr lang="en-US" sz="1700" b="1" dirty="0">
                <a:solidFill>
                  <a:schemeClr val="tx2"/>
                </a:solidFill>
              </a:rPr>
              <a:t>Range bar</a:t>
            </a:r>
            <a:endParaRPr lang="en-US" sz="1700" dirty="0"/>
          </a:p>
        </p:txBody>
      </p:sp>
      <p:sp>
        <p:nvSpPr>
          <p:cNvPr id="22" name="Text 19"/>
          <p:cNvSpPr txBox="1"/>
          <p:nvPr/>
        </p:nvSpPr>
        <p:spPr>
          <a:xfrm>
            <a:off x="6583680" y="4645152"/>
            <a:ext cx="5074920" cy="502920"/>
          </a:xfrm>
          <a:prstGeom prst="rect">
            <a:avLst/>
          </a:prstGeom>
          <a:noFill/>
          <a:ln/>
        </p:spPr>
        <p:txBody>
          <a:bodyPr wrap="square" lIns="0" tIns="0" rIns="0" bIns="0" rtlCol="0" anchor="t"/>
          <a:lstStyle/>
          <a:p>
            <a:pPr indent="0" marL="0">
              <a:buNone/>
            </a:pPr>
            <a:r>
              <a:rPr lang="en-US" sz="1400" dirty="0">
                <a:solidFill>
                  <a:srgbClr val="4A5650"/>
                </a:solidFill>
              </a:rPr>
              <a:t>Interval, midpoint dot and reference tick on a scale that stays fixed when goals change.</a:t>
            </a:r>
            <a:endParaRPr lang="en-US" sz="1400" dirty="0"/>
          </a:p>
        </p:txBody>
      </p:sp>
      <p:sp>
        <p:nvSpPr>
          <p:cNvPr id="23" name="badge-5"/>
          <p:cNvSpPr/>
          <p:nvPr/>
        </p:nvSpPr>
        <p:spPr>
          <a:xfrm>
            <a:off x="6035040" y="5221224"/>
            <a:ext cx="384048" cy="384048"/>
          </a:xfrm>
          <a:prstGeom prst="ellipse">
            <a:avLst/>
          </a:prstGeom>
          <a:solidFill>
            <a:schemeClr val="accent3"/>
          </a:solidFill>
          <a:ln w="12700">
            <a:solidFill>
              <a:schemeClr val="accent3"/>
            </a:solidFill>
            <a:prstDash val="solid"/>
          </a:ln>
        </p:spPr>
      </p:sp>
      <p:sp>
        <p:nvSpPr>
          <p:cNvPr id="24" name="Text 21"/>
          <p:cNvSpPr txBox="1"/>
          <p:nvPr/>
        </p:nvSpPr>
        <p:spPr>
          <a:xfrm>
            <a:off x="6035040" y="5221224"/>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rPr>
              <a:t>05</a:t>
            </a:r>
            <a:endParaRPr lang="en-US" sz="1200" dirty="0"/>
          </a:p>
        </p:txBody>
      </p:sp>
      <p:sp>
        <p:nvSpPr>
          <p:cNvPr id="25" name="Text 22"/>
          <p:cNvSpPr txBox="1"/>
          <p:nvPr/>
        </p:nvSpPr>
        <p:spPr>
          <a:xfrm>
            <a:off x="6583680" y="5193792"/>
            <a:ext cx="5029200" cy="365760"/>
          </a:xfrm>
          <a:prstGeom prst="rect">
            <a:avLst/>
          </a:prstGeom>
          <a:noFill/>
          <a:ln/>
        </p:spPr>
        <p:txBody>
          <a:bodyPr wrap="square" lIns="0" tIns="0" rIns="0" bIns="0" rtlCol="0" anchor="ctr"/>
          <a:lstStyle/>
          <a:p>
            <a:pPr indent="0" marL="0">
              <a:buNone/>
            </a:pPr>
            <a:r>
              <a:rPr lang="en-US" sz="1700" b="1" dirty="0">
                <a:solidFill>
                  <a:schemeClr val="tx2"/>
                </a:solidFill>
              </a:rPr>
              <a:t>Still honest</a:t>
            </a:r>
            <a:endParaRPr lang="en-US" sz="1700" dirty="0"/>
          </a:p>
        </p:txBody>
      </p:sp>
      <p:sp>
        <p:nvSpPr>
          <p:cNvPr id="26" name="Text 23"/>
          <p:cNvSpPr txBox="1"/>
          <p:nvPr/>
        </p:nvSpPr>
        <p:spPr>
          <a:xfrm>
            <a:off x="6583680" y="5577840"/>
            <a:ext cx="5074920" cy="502920"/>
          </a:xfrm>
          <a:prstGeom prst="rect">
            <a:avLst/>
          </a:prstGeom>
          <a:noFill/>
          <a:ln/>
        </p:spPr>
        <p:txBody>
          <a:bodyPr wrap="square" lIns="0" tIns="0" rIns="0" bIns="0" rtlCol="0" anchor="t"/>
          <a:lstStyle/>
          <a:p>
            <a:pPr indent="0" marL="0">
              <a:buNone/>
            </a:pPr>
            <a:r>
              <a:rPr lang="en-US" sz="1400" dirty="0">
                <a:solidFill>
                  <a:srgbClr val="4A5650"/>
                </a:solidFill>
              </a:rPr>
              <a:t>Serving assumption, confidence, uncertainties and disclaimer remain on every result.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05 · GOAL COMPARISON</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One tap changes the goal, not the estimate</a:t>
            </a:r>
            <a:endParaRPr lang="en-US" sz="3400" dirty="0"/>
          </a:p>
        </p:txBody>
      </p:sp>
      <p:sp>
        <p:nvSpPr>
          <p:cNvPr id="4" name="frame-cards-maintain.png"/>
          <p:cNvSpPr/>
          <p:nvPr/>
        </p:nvSpPr>
        <p:spPr>
          <a:xfrm>
            <a:off x="548640" y="1430442"/>
            <a:ext cx="3611880" cy="4317155"/>
          </a:xfrm>
          <a:prstGeom prst="roundRect">
            <a:avLst>
              <a:gd name="adj" fmla="val 2025"/>
            </a:avLst>
          </a:prstGeom>
          <a:solidFill>
            <a:schemeClr val="bg1"/>
          </a:solidFill>
          <a:ln w="9525">
            <a:solidFill>
              <a:srgbClr val="DADFD6"/>
            </a:solidFill>
            <a:prstDash val="solid"/>
          </a:ln>
          <a:effectLst>
            <a:outerShdw sx="100000" sy="100000" kx="0" ky="0" algn="bl" rotWithShape="0" blurRad="177800" dist="38100" dir="5400000">
              <a:srgbClr val="1C2B24">
                <a:alpha val="16000"/>
              </a:srgbClr>
            </a:outerShdw>
          </a:effectLst>
        </p:spPr>
      </p:sp>
      <p:pic>
        <p:nvPicPr>
          <p:cNvPr id="5" name="img-cards-maintain.png" descr="Cards with Maintain weight">    </p:cNvPr>
          <p:cNvPicPr>
            <a:picLocks noChangeAspect="1"/>
          </p:cNvPicPr>
          <p:nvPr/>
        </p:nvPicPr>
        <p:blipFill>
          <a:blip r:embed="rId1"/>
          <a:stretch>
            <a:fillRect/>
          </a:stretch>
        </p:blipFill>
        <p:spPr>
          <a:xfrm>
            <a:off x="621792" y="1503594"/>
            <a:ext cx="3465576" cy="4170851"/>
          </a:xfrm>
          <a:prstGeom prst="rect">
            <a:avLst/>
          </a:prstGeom>
        </p:spPr>
      </p:pic>
      <p:sp>
        <p:nvSpPr>
          <p:cNvPr id="6" name="Text 3"/>
          <p:cNvSpPr txBox="1"/>
          <p:nvPr/>
        </p:nvSpPr>
        <p:spPr>
          <a:xfrm>
            <a:off x="548640" y="5820750"/>
            <a:ext cx="3566160" cy="274320"/>
          </a:xfrm>
          <a:prstGeom prst="rect">
            <a:avLst/>
          </a:prstGeom>
          <a:noFill/>
          <a:ln/>
        </p:spPr>
        <p:txBody>
          <a:bodyPr wrap="square" lIns="0" tIns="0" rIns="0" bIns="0" rtlCol="0" anchor="ctr"/>
          <a:lstStyle/>
          <a:p>
            <a:pPr indent="0" marL="0">
              <a:buNone/>
            </a:pPr>
            <a:r>
              <a:rPr lang="en-US" sz="1000" i="1" dirty="0">
                <a:solidFill>
                  <a:srgbClr val="5F6B64"/>
                </a:solidFill>
              </a:rPr>
              <a:t>Maintain weight</a:t>
            </a:r>
            <a:endParaRPr lang="en-US" sz="1000" dirty="0"/>
          </a:p>
        </p:txBody>
      </p:sp>
      <p:sp>
        <p:nvSpPr>
          <p:cNvPr id="7" name="frame-cards-loss.png"/>
          <p:cNvSpPr/>
          <p:nvPr/>
        </p:nvSpPr>
        <p:spPr>
          <a:xfrm>
            <a:off x="4343400" y="1430442"/>
            <a:ext cx="3611880" cy="4317155"/>
          </a:xfrm>
          <a:prstGeom prst="roundRect">
            <a:avLst>
              <a:gd name="adj" fmla="val 2025"/>
            </a:avLst>
          </a:prstGeom>
          <a:solidFill>
            <a:schemeClr val="bg1"/>
          </a:solidFill>
          <a:ln w="9525">
            <a:solidFill>
              <a:srgbClr val="DADFD6"/>
            </a:solidFill>
            <a:prstDash val="solid"/>
          </a:ln>
          <a:effectLst>
            <a:outerShdw sx="100000" sy="100000" kx="0" ky="0" algn="bl" rotWithShape="0" blurRad="177800" dist="38100" dir="5400000">
              <a:srgbClr val="1C2B24">
                <a:alpha val="16000"/>
              </a:srgbClr>
            </a:outerShdw>
          </a:effectLst>
        </p:spPr>
      </p:sp>
      <p:pic>
        <p:nvPicPr>
          <p:cNvPr id="8" name="img-cards-loss.png" descr="Cards with Weight loss">    </p:cNvPr>
          <p:cNvPicPr>
            <a:picLocks noChangeAspect="1"/>
          </p:cNvPicPr>
          <p:nvPr/>
        </p:nvPicPr>
        <p:blipFill>
          <a:blip r:embed="rId2"/>
          <a:stretch>
            <a:fillRect/>
          </a:stretch>
        </p:blipFill>
        <p:spPr>
          <a:xfrm>
            <a:off x="4416552" y="1503594"/>
            <a:ext cx="3465576" cy="4170851"/>
          </a:xfrm>
          <a:prstGeom prst="rect">
            <a:avLst/>
          </a:prstGeom>
        </p:spPr>
      </p:pic>
      <p:sp>
        <p:nvSpPr>
          <p:cNvPr id="9" name="Text 5"/>
          <p:cNvSpPr txBox="1"/>
          <p:nvPr/>
        </p:nvSpPr>
        <p:spPr>
          <a:xfrm>
            <a:off x="4343400" y="5820750"/>
            <a:ext cx="3657600" cy="274320"/>
          </a:xfrm>
          <a:prstGeom prst="rect">
            <a:avLst/>
          </a:prstGeom>
          <a:noFill/>
          <a:ln/>
        </p:spPr>
        <p:txBody>
          <a:bodyPr wrap="square" lIns="0" tIns="0" rIns="0" bIns="0" rtlCol="0" anchor="ctr"/>
          <a:lstStyle/>
          <a:p>
            <a:pPr indent="0" marL="0">
              <a:buNone/>
            </a:pPr>
            <a:r>
              <a:rPr lang="en-US" sz="1000" i="1" dirty="0">
                <a:solidFill>
                  <a:srgbClr val="5F6B64"/>
                </a:solidFill>
              </a:rPr>
              <a:t>Weight loss — calories now include the 450 kcal reference</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0" y="1463040"/>
          <a:ext cx="3429000" cy="914400"/>
        </p:xfrm>
        <a:graphic>
          <a:graphicData uri="http://schemas.openxmlformats.org/drawingml/2006/table">
            <a:tbl>
              <a:tblPr/>
              <a:tblGrid>
                <a:gridCol w="1234440"/>
                <a:gridCol w="502920"/>
                <a:gridCol w="594360"/>
                <a:gridCol w="548640"/>
                <a:gridCol w="548640"/>
              </a:tblGrid>
              <a:tr h="365760">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Per-meal reference</a:t>
                      </a:r>
                      <a:endParaRPr lang="en-US" sz="1100" dirty="0">
                        <a:latin typeface="Calibri" charset="0"/>
                        <a:ea typeface="Calibri" charset="0"/>
                        <a:cs typeface="Calibri" charset="0"/>
                      </a:endParaRPr>
                    </a:p>
                  </a:txBody>
                  <a:tcPr marL="36576" marR="36576" marT="36576" marB="36576">
                    <a:lnL w="9525" cap="flat" cmpd="sng" algn="ctr">
                      <a:solidFill>
                        <a:srgbClr val="DADFD6"/>
                      </a:solidFill>
                      <a:prstDash val="solid"/>
                      <a:round/>
                      <a:headEnd type="none" w="med" len="med"/>
                      <a:tailEnd type="none" w="med" len="med"/>
                    </a:lnL>
                    <a:lnR w="9525" cap="flat" cmpd="sng" algn="ctr">
                      <a:solidFill>
                        <a:srgbClr val="DADFD6"/>
                      </a:solidFill>
                      <a:prstDash val="solid"/>
                      <a:round/>
                      <a:headEnd type="none" w="med" len="med"/>
                      <a:tailEnd type="none" w="med" len="med"/>
                    </a:lnR>
                    <a:lnT w="9525" cap="flat" cmpd="sng" algn="ctr">
                      <a:solidFill>
                        <a:srgbClr val="DADFD6"/>
                      </a:solidFill>
                      <a:prstDash val="solid"/>
                      <a:round/>
                      <a:headEnd type="none" w="med" len="med"/>
                      <a:tailEnd type="none" w="med" len="med"/>
                    </a:lnT>
                    <a:lnB w="9525" cap="flat" cmpd="sng" algn="ctr">
                      <a:solidFill>
                        <a:srgbClr val="DADFD6"/>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kcal</a:t>
                      </a:r>
                      <a:endParaRPr lang="en-US" sz="1100" dirty="0">
                        <a:latin typeface="Calibri" charset="0"/>
                        <a:ea typeface="Calibri" charset="0"/>
                        <a:cs typeface="Calibri" charset="0"/>
                      </a:endParaRPr>
                    </a:p>
                  </a:txBody>
                  <a:tcPr marL="36576" marR="36576" marT="36576" marB="36576">
                    <a:lnL w="9525" cap="flat" cmpd="sng" algn="ctr">
                      <a:solidFill>
                        <a:srgbClr val="DADFD6"/>
                      </a:solidFill>
                      <a:prstDash val="solid"/>
                      <a:round/>
                      <a:headEnd type="none" w="med" len="med"/>
                      <a:tailEnd type="none" w="med" len="med"/>
                    </a:lnL>
                    <a:lnR w="9525" cap="flat" cmpd="sng" algn="ctr">
                      <a:solidFill>
                        <a:srgbClr val="DADFD6"/>
                      </a:solidFill>
                      <a:prstDash val="solid"/>
                      <a:round/>
                      <a:headEnd type="none" w="med" len="med"/>
                      <a:tailEnd type="none" w="med" len="med"/>
                    </a:lnR>
                    <a:lnT w="9525" cap="flat" cmpd="sng" algn="ctr">
                      <a:solidFill>
                        <a:srgbClr val="DADFD6"/>
                      </a:solidFill>
                      <a:prstDash val="solid"/>
                      <a:round/>
                      <a:headEnd type="none" w="med" len="med"/>
                      <a:tailEnd type="none" w="med" len="med"/>
                    </a:lnT>
                    <a:lnB w="9525" cap="flat" cmpd="sng" algn="ctr">
                      <a:solidFill>
                        <a:srgbClr val="DADFD6"/>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Protein</a:t>
                      </a:r>
                      <a:endParaRPr lang="en-US" sz="1100" dirty="0">
                        <a:latin typeface="Calibri" charset="0"/>
                        <a:ea typeface="Calibri" charset="0"/>
                        <a:cs typeface="Calibri" charset="0"/>
                      </a:endParaRPr>
                    </a:p>
                  </a:txBody>
                  <a:tcPr marL="36576" marR="36576" marT="36576" marB="36576">
                    <a:lnL w="9525" cap="flat" cmpd="sng" algn="ctr">
                      <a:solidFill>
                        <a:srgbClr val="DADFD6"/>
                      </a:solidFill>
                      <a:prstDash val="solid"/>
                      <a:round/>
                      <a:headEnd type="none" w="med" len="med"/>
                      <a:tailEnd type="none" w="med" len="med"/>
                    </a:lnL>
                    <a:lnR w="9525" cap="flat" cmpd="sng" algn="ctr">
                      <a:solidFill>
                        <a:srgbClr val="DADFD6"/>
                      </a:solidFill>
                      <a:prstDash val="solid"/>
                      <a:round/>
                      <a:headEnd type="none" w="med" len="med"/>
                      <a:tailEnd type="none" w="med" len="med"/>
                    </a:lnR>
                    <a:lnT w="9525" cap="flat" cmpd="sng" algn="ctr">
                      <a:solidFill>
                        <a:srgbClr val="DADFD6"/>
                      </a:solidFill>
                      <a:prstDash val="solid"/>
                      <a:round/>
                      <a:headEnd type="none" w="med" len="med"/>
                      <a:tailEnd type="none" w="med" len="med"/>
                    </a:lnT>
                    <a:lnB w="9525" cap="flat" cmpd="sng" algn="ctr">
                      <a:solidFill>
                        <a:srgbClr val="DADFD6"/>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Carbs</a:t>
                      </a:r>
                      <a:endParaRPr lang="en-US" sz="1100" dirty="0">
                        <a:latin typeface="Calibri" charset="0"/>
                        <a:ea typeface="Calibri" charset="0"/>
                        <a:cs typeface="Calibri" charset="0"/>
                      </a:endParaRPr>
                    </a:p>
                  </a:txBody>
                  <a:tcPr marL="36576" marR="36576" marT="36576" marB="36576">
                    <a:lnL w="9525" cap="flat" cmpd="sng" algn="ctr">
                      <a:solidFill>
                        <a:srgbClr val="DADFD6"/>
                      </a:solidFill>
                      <a:prstDash val="solid"/>
                      <a:round/>
                      <a:headEnd type="none" w="med" len="med"/>
                      <a:tailEnd type="none" w="med" len="med"/>
                    </a:lnL>
                    <a:lnR w="9525" cap="flat" cmpd="sng" algn="ctr">
                      <a:solidFill>
                        <a:srgbClr val="DADFD6"/>
                      </a:solidFill>
                      <a:prstDash val="solid"/>
                      <a:round/>
                      <a:headEnd type="none" w="med" len="med"/>
                      <a:tailEnd type="none" w="med" len="med"/>
                    </a:lnR>
                    <a:lnT w="9525" cap="flat" cmpd="sng" algn="ctr">
                      <a:solidFill>
                        <a:srgbClr val="DADFD6"/>
                      </a:solidFill>
                      <a:prstDash val="solid"/>
                      <a:round/>
                      <a:headEnd type="none" w="med" len="med"/>
                      <a:tailEnd type="none" w="med" len="med"/>
                    </a:lnT>
                    <a:lnB w="9525" cap="flat" cmpd="sng" algn="ctr">
                      <a:solidFill>
                        <a:srgbClr val="DADFD6"/>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Fat</a:t>
                      </a:r>
                      <a:endParaRPr lang="en-US" sz="1100" dirty="0">
                        <a:latin typeface="Calibri" charset="0"/>
                        <a:ea typeface="Calibri" charset="0"/>
                        <a:cs typeface="Calibri" charset="0"/>
                      </a:endParaRPr>
                    </a:p>
                  </a:txBody>
                  <a:tcPr marL="36576" marR="36576" marT="36576" marB="36576">
                    <a:lnL w="9525" cap="flat" cmpd="sng" algn="ctr">
                      <a:solidFill>
                        <a:srgbClr val="DADFD6"/>
                      </a:solidFill>
                      <a:prstDash val="solid"/>
                      <a:round/>
                      <a:headEnd type="none" w="med" len="med"/>
                      <a:tailEnd type="none" w="med" len="med"/>
                    </a:lnL>
                    <a:lnR w="9525" cap="flat" cmpd="sng" algn="ctr">
                      <a:solidFill>
                        <a:srgbClr val="DADFD6"/>
                      </a:solidFill>
                      <a:prstDash val="solid"/>
                      <a:round/>
                      <a:headEnd type="none" w="med" len="med"/>
                      <a:tailEnd type="none" w="med" len="med"/>
                    </a:lnR>
                    <a:lnT w="9525" cap="flat" cmpd="sng" algn="ctr">
                      <a:solidFill>
                        <a:srgbClr val="DADFD6"/>
                      </a:solidFill>
                      <a:prstDash val="solid"/>
                      <a:round/>
                      <a:headEnd type="none" w="med" len="med"/>
                      <a:tailEnd type="none" w="med" len="med"/>
                    </a:lnT>
                    <a:lnB w="9525" cap="flat" cmpd="sng" algn="ctr">
                      <a:solidFill>
                        <a:srgbClr val="DADFD6"/>
                      </a:solidFill>
                      <a:prstDash val="solid"/>
                      <a:round/>
                      <a:headEnd type="none" w="med" len="med"/>
                      <a:tailEnd type="none" w="med" len="med"/>
                    </a:lnB>
                    <a:solidFill>
                      <a:schemeClr val="accent1"/>
                    </a:solidFill>
                  </a:tcPr>
                </a:tc>
              </a:tr>
              <a:tr h="365760">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Weight loss</a:t>
                      </a:r>
                      <a:endParaRPr lang="en-US" sz="1100" dirty="0">
                        <a:latin typeface="Calibri" charset="0"/>
                        <a:ea typeface="Calibri" charset="0"/>
                        <a:cs typeface="Calibri" charset="0"/>
                      </a:endParaRPr>
                    </a:p>
                  </a:txBody>
                  <a:tcPr marL="36576" marR="36576" marT="36576" marB="36576">
                    <a:lnL w="9525" cap="flat" cmpd="sng" algn="ctr">
                      <a:solidFill>
                        <a:srgbClr val="DADFD6"/>
                      </a:solidFill>
                      <a:prstDash val="solid"/>
                      <a:round/>
                      <a:headEnd type="none" w="med" len="med"/>
                      <a:tailEnd type="none" w="med" len="med"/>
                    </a:lnL>
                    <a:lnR w="9525" cap="flat" cmpd="sng" algn="ctr">
                      <a:solidFill>
                        <a:srgbClr val="DADFD6"/>
                      </a:solidFill>
                      <a:prstDash val="solid"/>
                      <a:round/>
                      <a:headEnd type="none" w="med" len="med"/>
                      <a:tailEnd type="none" w="med" len="med"/>
                    </a:lnR>
                    <a:lnT w="9525" cap="flat" cmpd="sng" algn="ctr">
                      <a:solidFill>
                        <a:srgbClr val="DADFD6"/>
                      </a:solidFill>
                      <a:prstDash val="solid"/>
                      <a:round/>
                      <a:headEnd type="none" w="med" len="med"/>
                      <a:tailEnd type="none" w="med" len="med"/>
                    </a:lnT>
                    <a:lnB w="9525" cap="flat" cmpd="sng" algn="ctr">
                      <a:solidFill>
                        <a:srgbClr val="DADFD6"/>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450</a:t>
                      </a:r>
                      <a:endParaRPr lang="en-US" sz="1100" dirty="0">
                        <a:latin typeface="Calibri" charset="0"/>
                        <a:ea typeface="Calibri" charset="0"/>
                        <a:cs typeface="Calibri" charset="0"/>
                      </a:endParaRPr>
                    </a:p>
                  </a:txBody>
                  <a:tcPr marL="36576" marR="36576" marT="36576" marB="36576">
                    <a:lnL w="9525" cap="flat" cmpd="sng" algn="ctr">
                      <a:solidFill>
                        <a:srgbClr val="DADFD6"/>
                      </a:solidFill>
                      <a:prstDash val="solid"/>
                      <a:round/>
                      <a:headEnd type="none" w="med" len="med"/>
                      <a:tailEnd type="none" w="med" len="med"/>
                    </a:lnL>
                    <a:lnR w="9525" cap="flat" cmpd="sng" algn="ctr">
                      <a:solidFill>
                        <a:srgbClr val="DADFD6"/>
                      </a:solidFill>
                      <a:prstDash val="solid"/>
                      <a:round/>
                      <a:headEnd type="none" w="med" len="med"/>
                      <a:tailEnd type="none" w="med" len="med"/>
                    </a:lnR>
                    <a:lnT w="9525" cap="flat" cmpd="sng" algn="ctr">
                      <a:solidFill>
                        <a:srgbClr val="DADFD6"/>
                      </a:solidFill>
                      <a:prstDash val="solid"/>
                      <a:round/>
                      <a:headEnd type="none" w="med" len="med"/>
                      <a:tailEnd type="none" w="med" len="med"/>
                    </a:lnT>
                    <a:lnB w="9525" cap="flat" cmpd="sng" algn="ctr">
                      <a:solidFill>
                        <a:srgbClr val="DADFD6"/>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20 g</a:t>
                      </a:r>
                      <a:endParaRPr lang="en-US" sz="1100" dirty="0">
                        <a:latin typeface="Calibri" charset="0"/>
                        <a:ea typeface="Calibri" charset="0"/>
                        <a:cs typeface="Calibri" charset="0"/>
                      </a:endParaRPr>
                    </a:p>
                  </a:txBody>
                  <a:tcPr marL="36576" marR="36576" marT="36576" marB="36576">
                    <a:lnL w="9525" cap="flat" cmpd="sng" algn="ctr">
                      <a:solidFill>
                        <a:srgbClr val="DADFD6"/>
                      </a:solidFill>
                      <a:prstDash val="solid"/>
                      <a:round/>
                      <a:headEnd type="none" w="med" len="med"/>
                      <a:tailEnd type="none" w="med" len="med"/>
                    </a:lnL>
                    <a:lnR w="9525" cap="flat" cmpd="sng" algn="ctr">
                      <a:solidFill>
                        <a:srgbClr val="DADFD6"/>
                      </a:solidFill>
                      <a:prstDash val="solid"/>
                      <a:round/>
                      <a:headEnd type="none" w="med" len="med"/>
                      <a:tailEnd type="none" w="med" len="med"/>
                    </a:lnR>
                    <a:lnT w="9525" cap="flat" cmpd="sng" algn="ctr">
                      <a:solidFill>
                        <a:srgbClr val="DADFD6"/>
                      </a:solidFill>
                      <a:prstDash val="solid"/>
                      <a:round/>
                      <a:headEnd type="none" w="med" len="med"/>
                      <a:tailEnd type="none" w="med" len="med"/>
                    </a:lnT>
                    <a:lnB w="9525" cap="flat" cmpd="sng" algn="ctr">
                      <a:solidFill>
                        <a:srgbClr val="DADFD6"/>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55 g</a:t>
                      </a:r>
                      <a:endParaRPr lang="en-US" sz="1100" dirty="0">
                        <a:latin typeface="Calibri" charset="0"/>
                        <a:ea typeface="Calibri" charset="0"/>
                        <a:cs typeface="Calibri" charset="0"/>
                      </a:endParaRPr>
                    </a:p>
                  </a:txBody>
                  <a:tcPr marL="36576" marR="36576" marT="36576" marB="36576">
                    <a:lnL w="9525" cap="flat" cmpd="sng" algn="ctr">
                      <a:solidFill>
                        <a:srgbClr val="DADFD6"/>
                      </a:solidFill>
                      <a:prstDash val="solid"/>
                      <a:round/>
                      <a:headEnd type="none" w="med" len="med"/>
                      <a:tailEnd type="none" w="med" len="med"/>
                    </a:lnL>
                    <a:lnR w="9525" cap="flat" cmpd="sng" algn="ctr">
                      <a:solidFill>
                        <a:srgbClr val="DADFD6"/>
                      </a:solidFill>
                      <a:prstDash val="solid"/>
                      <a:round/>
                      <a:headEnd type="none" w="med" len="med"/>
                      <a:tailEnd type="none" w="med" len="med"/>
                    </a:lnR>
                    <a:lnT w="9525" cap="flat" cmpd="sng" algn="ctr">
                      <a:solidFill>
                        <a:srgbClr val="DADFD6"/>
                      </a:solidFill>
                      <a:prstDash val="solid"/>
                      <a:round/>
                      <a:headEnd type="none" w="med" len="med"/>
                      <a:tailEnd type="none" w="med" len="med"/>
                    </a:lnT>
                    <a:lnB w="9525" cap="flat" cmpd="sng" algn="ctr">
                      <a:solidFill>
                        <a:srgbClr val="DADFD6"/>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15 g</a:t>
                      </a:r>
                      <a:endParaRPr lang="en-US" sz="1100" dirty="0">
                        <a:latin typeface="Calibri" charset="0"/>
                        <a:ea typeface="Calibri" charset="0"/>
                        <a:cs typeface="Calibri" charset="0"/>
                      </a:endParaRPr>
                    </a:p>
                  </a:txBody>
                  <a:tcPr marL="36576" marR="36576" marT="36576" marB="36576">
                    <a:lnL w="9525" cap="flat" cmpd="sng" algn="ctr">
                      <a:solidFill>
                        <a:srgbClr val="DADFD6"/>
                      </a:solidFill>
                      <a:prstDash val="solid"/>
                      <a:round/>
                      <a:headEnd type="none" w="med" len="med"/>
                      <a:tailEnd type="none" w="med" len="med"/>
                    </a:lnL>
                    <a:lnR w="9525" cap="flat" cmpd="sng" algn="ctr">
                      <a:solidFill>
                        <a:srgbClr val="DADFD6"/>
                      </a:solidFill>
                      <a:prstDash val="solid"/>
                      <a:round/>
                      <a:headEnd type="none" w="med" len="med"/>
                      <a:tailEnd type="none" w="med" len="med"/>
                    </a:lnR>
                    <a:lnT w="9525" cap="flat" cmpd="sng" algn="ctr">
                      <a:solidFill>
                        <a:srgbClr val="DADFD6"/>
                      </a:solidFill>
                      <a:prstDash val="solid"/>
                      <a:round/>
                      <a:headEnd type="none" w="med" len="med"/>
                      <a:tailEnd type="none" w="med" len="med"/>
                    </a:lnT>
                    <a:lnB w="9525" cap="flat" cmpd="sng" algn="ctr">
                      <a:solidFill>
                        <a:srgbClr val="DADFD6"/>
                      </a:solidFill>
                      <a:prstDash val="solid"/>
                      <a:round/>
                      <a:headEnd type="none" w="med" len="med"/>
                      <a:tailEnd type="none" w="med" len="med"/>
                    </a:lnB>
                    <a:solidFill>
                      <a:schemeClr val="bg1"/>
                    </a:solidFill>
                  </a:tcPr>
                </a:tc>
              </a:tr>
              <a:tr h="365760">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Maintain (default)</a:t>
                      </a:r>
                      <a:endParaRPr lang="en-US" sz="1100" dirty="0">
                        <a:latin typeface="Calibri" charset="0"/>
                        <a:ea typeface="Calibri" charset="0"/>
                        <a:cs typeface="Calibri" charset="0"/>
                      </a:endParaRPr>
                    </a:p>
                  </a:txBody>
                  <a:tcPr marL="36576" marR="36576" marT="36576" marB="36576">
                    <a:lnL w="9525" cap="flat" cmpd="sng" algn="ctr">
                      <a:solidFill>
                        <a:srgbClr val="DADFD6"/>
                      </a:solidFill>
                      <a:prstDash val="solid"/>
                      <a:round/>
                      <a:headEnd type="none" w="med" len="med"/>
                      <a:tailEnd type="none" w="med" len="med"/>
                    </a:lnL>
                    <a:lnR w="9525" cap="flat" cmpd="sng" algn="ctr">
                      <a:solidFill>
                        <a:srgbClr val="DADFD6"/>
                      </a:solidFill>
                      <a:prstDash val="solid"/>
                      <a:round/>
                      <a:headEnd type="none" w="med" len="med"/>
                      <a:tailEnd type="none" w="med" len="med"/>
                    </a:lnR>
                    <a:lnT w="9525" cap="flat" cmpd="sng" algn="ctr">
                      <a:solidFill>
                        <a:srgbClr val="DADFD6"/>
                      </a:solidFill>
                      <a:prstDash val="solid"/>
                      <a:round/>
                      <a:headEnd type="none" w="med" len="med"/>
                      <a:tailEnd type="none" w="med" len="med"/>
                    </a:lnT>
                    <a:lnB w="9525" cap="flat" cmpd="sng" algn="ctr">
                      <a:solidFill>
                        <a:srgbClr val="DADFD6"/>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600</a:t>
                      </a:r>
                      <a:endParaRPr lang="en-US" sz="1100" dirty="0">
                        <a:latin typeface="Calibri" charset="0"/>
                        <a:ea typeface="Calibri" charset="0"/>
                        <a:cs typeface="Calibri" charset="0"/>
                      </a:endParaRPr>
                    </a:p>
                  </a:txBody>
                  <a:tcPr marL="36576" marR="36576" marT="36576" marB="36576">
                    <a:lnL w="9525" cap="flat" cmpd="sng" algn="ctr">
                      <a:solidFill>
                        <a:srgbClr val="DADFD6"/>
                      </a:solidFill>
                      <a:prstDash val="solid"/>
                      <a:round/>
                      <a:headEnd type="none" w="med" len="med"/>
                      <a:tailEnd type="none" w="med" len="med"/>
                    </a:lnL>
                    <a:lnR w="9525" cap="flat" cmpd="sng" algn="ctr">
                      <a:solidFill>
                        <a:srgbClr val="DADFD6"/>
                      </a:solidFill>
                      <a:prstDash val="solid"/>
                      <a:round/>
                      <a:headEnd type="none" w="med" len="med"/>
                      <a:tailEnd type="none" w="med" len="med"/>
                    </a:lnR>
                    <a:lnT w="9525" cap="flat" cmpd="sng" algn="ctr">
                      <a:solidFill>
                        <a:srgbClr val="DADFD6"/>
                      </a:solidFill>
                      <a:prstDash val="solid"/>
                      <a:round/>
                      <a:headEnd type="none" w="med" len="med"/>
                      <a:tailEnd type="none" w="med" len="med"/>
                    </a:lnT>
                    <a:lnB w="9525" cap="flat" cmpd="sng" algn="ctr">
                      <a:solidFill>
                        <a:srgbClr val="DADFD6"/>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25 g</a:t>
                      </a:r>
                      <a:endParaRPr lang="en-US" sz="1100" dirty="0">
                        <a:latin typeface="Calibri" charset="0"/>
                        <a:ea typeface="Calibri" charset="0"/>
                        <a:cs typeface="Calibri" charset="0"/>
                      </a:endParaRPr>
                    </a:p>
                  </a:txBody>
                  <a:tcPr marL="36576" marR="36576" marT="36576" marB="36576">
                    <a:lnL w="9525" cap="flat" cmpd="sng" algn="ctr">
                      <a:solidFill>
                        <a:srgbClr val="DADFD6"/>
                      </a:solidFill>
                      <a:prstDash val="solid"/>
                      <a:round/>
                      <a:headEnd type="none" w="med" len="med"/>
                      <a:tailEnd type="none" w="med" len="med"/>
                    </a:lnL>
                    <a:lnR w="9525" cap="flat" cmpd="sng" algn="ctr">
                      <a:solidFill>
                        <a:srgbClr val="DADFD6"/>
                      </a:solidFill>
                      <a:prstDash val="solid"/>
                      <a:round/>
                      <a:headEnd type="none" w="med" len="med"/>
                      <a:tailEnd type="none" w="med" len="med"/>
                    </a:lnR>
                    <a:lnT w="9525" cap="flat" cmpd="sng" algn="ctr">
                      <a:solidFill>
                        <a:srgbClr val="DADFD6"/>
                      </a:solidFill>
                      <a:prstDash val="solid"/>
                      <a:round/>
                      <a:headEnd type="none" w="med" len="med"/>
                      <a:tailEnd type="none" w="med" len="med"/>
                    </a:lnT>
                    <a:lnB w="9525" cap="flat" cmpd="sng" algn="ctr">
                      <a:solidFill>
                        <a:srgbClr val="DADFD6"/>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75 g</a:t>
                      </a:r>
                      <a:endParaRPr lang="en-US" sz="1100" dirty="0">
                        <a:latin typeface="Calibri" charset="0"/>
                        <a:ea typeface="Calibri" charset="0"/>
                        <a:cs typeface="Calibri" charset="0"/>
                      </a:endParaRPr>
                    </a:p>
                  </a:txBody>
                  <a:tcPr marL="36576" marR="36576" marT="36576" marB="36576">
                    <a:lnL w="9525" cap="flat" cmpd="sng" algn="ctr">
                      <a:solidFill>
                        <a:srgbClr val="DADFD6"/>
                      </a:solidFill>
                      <a:prstDash val="solid"/>
                      <a:round/>
                      <a:headEnd type="none" w="med" len="med"/>
                      <a:tailEnd type="none" w="med" len="med"/>
                    </a:lnL>
                    <a:lnR w="9525" cap="flat" cmpd="sng" algn="ctr">
                      <a:solidFill>
                        <a:srgbClr val="DADFD6"/>
                      </a:solidFill>
                      <a:prstDash val="solid"/>
                      <a:round/>
                      <a:headEnd type="none" w="med" len="med"/>
                      <a:tailEnd type="none" w="med" len="med"/>
                    </a:lnR>
                    <a:lnT w="9525" cap="flat" cmpd="sng" algn="ctr">
                      <a:solidFill>
                        <a:srgbClr val="DADFD6"/>
                      </a:solidFill>
                      <a:prstDash val="solid"/>
                      <a:round/>
                      <a:headEnd type="none" w="med" len="med"/>
                      <a:tailEnd type="none" w="med" len="med"/>
                    </a:lnT>
                    <a:lnB w="9525" cap="flat" cmpd="sng" algn="ctr">
                      <a:solidFill>
                        <a:srgbClr val="DADFD6"/>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20 g</a:t>
                      </a:r>
                      <a:endParaRPr lang="en-US" sz="1100" dirty="0">
                        <a:latin typeface="Calibri" charset="0"/>
                        <a:ea typeface="Calibri" charset="0"/>
                        <a:cs typeface="Calibri" charset="0"/>
                      </a:endParaRPr>
                    </a:p>
                  </a:txBody>
                  <a:tcPr marL="36576" marR="36576" marT="36576" marB="36576">
                    <a:lnL w="9525" cap="flat" cmpd="sng" algn="ctr">
                      <a:solidFill>
                        <a:srgbClr val="DADFD6"/>
                      </a:solidFill>
                      <a:prstDash val="solid"/>
                      <a:round/>
                      <a:headEnd type="none" w="med" len="med"/>
                      <a:tailEnd type="none" w="med" len="med"/>
                    </a:lnL>
                    <a:lnR w="9525" cap="flat" cmpd="sng" algn="ctr">
                      <a:solidFill>
                        <a:srgbClr val="DADFD6"/>
                      </a:solidFill>
                      <a:prstDash val="solid"/>
                      <a:round/>
                      <a:headEnd type="none" w="med" len="med"/>
                      <a:tailEnd type="none" w="med" len="med"/>
                    </a:lnR>
                    <a:lnT w="9525" cap="flat" cmpd="sng" algn="ctr">
                      <a:solidFill>
                        <a:srgbClr val="DADFD6"/>
                      </a:solidFill>
                      <a:prstDash val="solid"/>
                      <a:round/>
                      <a:headEnd type="none" w="med" len="med"/>
                      <a:tailEnd type="none" w="med" len="med"/>
                    </a:lnT>
                    <a:lnB w="9525" cap="flat" cmpd="sng" algn="ctr">
                      <a:solidFill>
                        <a:srgbClr val="DADFD6"/>
                      </a:solidFill>
                      <a:prstDash val="solid"/>
                      <a:round/>
                      <a:headEnd type="none" w="med" len="med"/>
                      <a:tailEnd type="none" w="med" len="med"/>
                    </a:lnB>
                    <a:solidFill>
                      <a:schemeClr val="bg1"/>
                    </a:solidFill>
                  </a:tcPr>
                </a:tc>
              </a:tr>
              <a:tr h="365760">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Weight gain</a:t>
                      </a:r>
                      <a:endParaRPr lang="en-US" sz="1100" dirty="0">
                        <a:latin typeface="Calibri" charset="0"/>
                        <a:ea typeface="Calibri" charset="0"/>
                        <a:cs typeface="Calibri" charset="0"/>
                      </a:endParaRPr>
                    </a:p>
                  </a:txBody>
                  <a:tcPr marL="36576" marR="36576" marT="36576" marB="36576">
                    <a:lnL w="9525" cap="flat" cmpd="sng" algn="ctr">
                      <a:solidFill>
                        <a:srgbClr val="DADFD6"/>
                      </a:solidFill>
                      <a:prstDash val="solid"/>
                      <a:round/>
                      <a:headEnd type="none" w="med" len="med"/>
                      <a:tailEnd type="none" w="med" len="med"/>
                    </a:lnL>
                    <a:lnR w="9525" cap="flat" cmpd="sng" algn="ctr">
                      <a:solidFill>
                        <a:srgbClr val="DADFD6"/>
                      </a:solidFill>
                      <a:prstDash val="solid"/>
                      <a:round/>
                      <a:headEnd type="none" w="med" len="med"/>
                      <a:tailEnd type="none" w="med" len="med"/>
                    </a:lnR>
                    <a:lnT w="9525" cap="flat" cmpd="sng" algn="ctr">
                      <a:solidFill>
                        <a:srgbClr val="DADFD6"/>
                      </a:solidFill>
                      <a:prstDash val="solid"/>
                      <a:round/>
                      <a:headEnd type="none" w="med" len="med"/>
                      <a:tailEnd type="none" w="med" len="med"/>
                    </a:lnT>
                    <a:lnB w="9525" cap="flat" cmpd="sng" algn="ctr">
                      <a:solidFill>
                        <a:srgbClr val="DADFD6"/>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750</a:t>
                      </a:r>
                      <a:endParaRPr lang="en-US" sz="1100" dirty="0">
                        <a:latin typeface="Calibri" charset="0"/>
                        <a:ea typeface="Calibri" charset="0"/>
                        <a:cs typeface="Calibri" charset="0"/>
                      </a:endParaRPr>
                    </a:p>
                  </a:txBody>
                  <a:tcPr marL="36576" marR="36576" marT="36576" marB="36576">
                    <a:lnL w="9525" cap="flat" cmpd="sng" algn="ctr">
                      <a:solidFill>
                        <a:srgbClr val="DADFD6"/>
                      </a:solidFill>
                      <a:prstDash val="solid"/>
                      <a:round/>
                      <a:headEnd type="none" w="med" len="med"/>
                      <a:tailEnd type="none" w="med" len="med"/>
                    </a:lnL>
                    <a:lnR w="9525" cap="flat" cmpd="sng" algn="ctr">
                      <a:solidFill>
                        <a:srgbClr val="DADFD6"/>
                      </a:solidFill>
                      <a:prstDash val="solid"/>
                      <a:round/>
                      <a:headEnd type="none" w="med" len="med"/>
                      <a:tailEnd type="none" w="med" len="med"/>
                    </a:lnR>
                    <a:lnT w="9525" cap="flat" cmpd="sng" algn="ctr">
                      <a:solidFill>
                        <a:srgbClr val="DADFD6"/>
                      </a:solidFill>
                      <a:prstDash val="solid"/>
                      <a:round/>
                      <a:headEnd type="none" w="med" len="med"/>
                      <a:tailEnd type="none" w="med" len="med"/>
                    </a:lnT>
                    <a:lnB w="9525" cap="flat" cmpd="sng" algn="ctr">
                      <a:solidFill>
                        <a:srgbClr val="DADFD6"/>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30 g</a:t>
                      </a:r>
                      <a:endParaRPr lang="en-US" sz="1100" dirty="0">
                        <a:latin typeface="Calibri" charset="0"/>
                        <a:ea typeface="Calibri" charset="0"/>
                        <a:cs typeface="Calibri" charset="0"/>
                      </a:endParaRPr>
                    </a:p>
                  </a:txBody>
                  <a:tcPr marL="36576" marR="36576" marT="36576" marB="36576">
                    <a:lnL w="9525" cap="flat" cmpd="sng" algn="ctr">
                      <a:solidFill>
                        <a:srgbClr val="DADFD6"/>
                      </a:solidFill>
                      <a:prstDash val="solid"/>
                      <a:round/>
                      <a:headEnd type="none" w="med" len="med"/>
                      <a:tailEnd type="none" w="med" len="med"/>
                    </a:lnL>
                    <a:lnR w="9525" cap="flat" cmpd="sng" algn="ctr">
                      <a:solidFill>
                        <a:srgbClr val="DADFD6"/>
                      </a:solidFill>
                      <a:prstDash val="solid"/>
                      <a:round/>
                      <a:headEnd type="none" w="med" len="med"/>
                      <a:tailEnd type="none" w="med" len="med"/>
                    </a:lnR>
                    <a:lnT w="9525" cap="flat" cmpd="sng" algn="ctr">
                      <a:solidFill>
                        <a:srgbClr val="DADFD6"/>
                      </a:solidFill>
                      <a:prstDash val="solid"/>
                      <a:round/>
                      <a:headEnd type="none" w="med" len="med"/>
                      <a:tailEnd type="none" w="med" len="med"/>
                    </a:lnT>
                    <a:lnB w="9525" cap="flat" cmpd="sng" algn="ctr">
                      <a:solidFill>
                        <a:srgbClr val="DADFD6"/>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95 g</a:t>
                      </a:r>
                      <a:endParaRPr lang="en-US" sz="1100" dirty="0">
                        <a:latin typeface="Calibri" charset="0"/>
                        <a:ea typeface="Calibri" charset="0"/>
                        <a:cs typeface="Calibri" charset="0"/>
                      </a:endParaRPr>
                    </a:p>
                  </a:txBody>
                  <a:tcPr marL="36576" marR="36576" marT="36576" marB="36576">
                    <a:lnL w="9525" cap="flat" cmpd="sng" algn="ctr">
                      <a:solidFill>
                        <a:srgbClr val="DADFD6"/>
                      </a:solidFill>
                      <a:prstDash val="solid"/>
                      <a:round/>
                      <a:headEnd type="none" w="med" len="med"/>
                      <a:tailEnd type="none" w="med" len="med"/>
                    </a:lnL>
                    <a:lnR w="9525" cap="flat" cmpd="sng" algn="ctr">
                      <a:solidFill>
                        <a:srgbClr val="DADFD6"/>
                      </a:solidFill>
                      <a:prstDash val="solid"/>
                      <a:round/>
                      <a:headEnd type="none" w="med" len="med"/>
                      <a:tailEnd type="none" w="med" len="med"/>
                    </a:lnR>
                    <a:lnT w="9525" cap="flat" cmpd="sng" algn="ctr">
                      <a:solidFill>
                        <a:srgbClr val="DADFD6"/>
                      </a:solidFill>
                      <a:prstDash val="solid"/>
                      <a:round/>
                      <a:headEnd type="none" w="med" len="med"/>
                      <a:tailEnd type="none" w="med" len="med"/>
                    </a:lnT>
                    <a:lnB w="9525" cap="flat" cmpd="sng" algn="ctr">
                      <a:solidFill>
                        <a:srgbClr val="DADFD6"/>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Calibri" pitchFamily="34" charset="0"/>
                          <a:ea typeface="Calibri" pitchFamily="34" charset="-122"/>
                          <a:cs typeface="Calibri" pitchFamily="34" charset="-120"/>
                        </a:rPr>
                        <a:t>25 g</a:t>
                      </a:r>
                      <a:endParaRPr lang="en-US" sz="1100" dirty="0">
                        <a:latin typeface="Calibri" charset="0"/>
                        <a:ea typeface="Calibri" charset="0"/>
                        <a:cs typeface="Calibri" charset="0"/>
                      </a:endParaRPr>
                    </a:p>
                  </a:txBody>
                  <a:tcPr marL="36576" marR="36576" marT="36576" marB="36576">
                    <a:lnL w="9525" cap="flat" cmpd="sng" algn="ctr">
                      <a:solidFill>
                        <a:srgbClr val="DADFD6"/>
                      </a:solidFill>
                      <a:prstDash val="solid"/>
                      <a:round/>
                      <a:headEnd type="none" w="med" len="med"/>
                      <a:tailEnd type="none" w="med" len="med"/>
                    </a:lnL>
                    <a:lnR w="9525" cap="flat" cmpd="sng" algn="ctr">
                      <a:solidFill>
                        <a:srgbClr val="DADFD6"/>
                      </a:solidFill>
                      <a:prstDash val="solid"/>
                      <a:round/>
                      <a:headEnd type="none" w="med" len="med"/>
                      <a:tailEnd type="none" w="med" len="med"/>
                    </a:lnR>
                    <a:lnT w="9525" cap="flat" cmpd="sng" algn="ctr">
                      <a:solidFill>
                        <a:srgbClr val="DADFD6"/>
                      </a:solidFill>
                      <a:prstDash val="solid"/>
                      <a:round/>
                      <a:headEnd type="none" w="med" len="med"/>
                      <a:tailEnd type="none" w="med" len="med"/>
                    </a:lnT>
                    <a:lnB w="9525" cap="flat" cmpd="sng" algn="ctr">
                      <a:solidFill>
                        <a:srgbClr val="DADFD6"/>
                      </a:solidFill>
                      <a:prstDash val="solid"/>
                      <a:round/>
                      <a:headEnd type="none" w="med" len="med"/>
                      <a:tailEnd type="none" w="med" len="med"/>
                    </a:lnB>
                    <a:solidFill>
                      <a:schemeClr val="bg1"/>
                    </a:solidFill>
                  </a:tcPr>
                </a:tc>
              </a:tr>
            </a:tbl>
          </a:graphicData>
        </a:graphic>
      </p:graphicFrame>
      <p:sp>
        <p:nvSpPr>
          <p:cNvPr id="11" name="Text 6"/>
          <p:cNvSpPr txBox="1"/>
          <p:nvPr/>
        </p:nvSpPr>
        <p:spPr>
          <a:xfrm>
            <a:off x="8229600" y="3154680"/>
            <a:ext cx="3429000" cy="2926080"/>
          </a:xfrm>
          <a:prstGeom prst="rect">
            <a:avLst/>
          </a:prstGeom>
          <a:noFill/>
          <a:ln/>
        </p:spPr>
        <p:txBody>
          <a:bodyPr wrap="square" lIns="0" tIns="0" rIns="0" bIns="0" rtlCol="0" anchor="t"/>
          <a:lstStyle/>
          <a:p>
            <a:pPr marL="203200" indent="-203200">
              <a:spcAft>
                <a:spcPts val="1000"/>
              </a:spcAft>
              <a:buSzPct val="100000"/>
              <a:buChar char="•"/>
            </a:pPr>
            <a:r>
              <a:rPr lang="en-US" sz="1350" dirty="0">
                <a:solidFill>
                  <a:schemeClr val="tx1"/>
                </a:solidFill>
              </a:rPr>
              <a:t>Ranges, midpoints and scales stay fixed; only reference markers, badges and colours move</a:t>
            </a:r>
            <a:endParaRPr lang="en-US" sz="1350" dirty="0"/>
          </a:p>
          <a:p>
            <a:pPr marL="203200" indent="-203200">
              <a:spcAft>
                <a:spcPts val="1000"/>
              </a:spcAft>
              <a:buSzPct val="100000"/>
              <a:buChar char="•"/>
            </a:pPr>
            <a:r>
              <a:rPr lang="en-US" sz="1350" dirty="0">
                <a:solidFill>
                  <a:schemeClr val="tx1"/>
                </a:solidFill>
              </a:rPr>
              <a:t>Choice is kept in memory until refresh — never saved or sent to Go/Ollama</a:t>
            </a:r>
            <a:endParaRPr lang="en-US" sz="1350" dirty="0"/>
          </a:p>
          <a:p>
            <a:pPr marL="203200" indent="-203200">
              <a:spcAft>
                <a:spcPts val="1000"/>
              </a:spcAft>
              <a:buSzPct val="100000"/>
              <a:buChar char="•"/>
            </a:pPr>
            <a:r>
              <a:rPr lang="en-US" sz="1350" dirty="0">
                <a:solidFill>
                  <a:schemeClr val="tx1"/>
                </a:solidFill>
              </a:rPr>
              <a:t>Copied results include the goal and all comparisons</a:t>
            </a:r>
            <a:endParaRPr lang="en-US" sz="13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06 · HOW THE COLOURS WORK</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Colours compare a range to a reference</a:t>
            </a:r>
            <a:endParaRPr lang="en-US" sz="3400" dirty="0"/>
          </a:p>
        </p:txBody>
      </p:sp>
      <p:sp>
        <p:nvSpPr>
          <p:cNvPr id="4" name="case-below"/>
          <p:cNvSpPr/>
          <p:nvPr/>
        </p:nvSpPr>
        <p:spPr>
          <a:xfrm>
            <a:off x="548640" y="1554480"/>
            <a:ext cx="2606040" cy="2743200"/>
          </a:xfrm>
          <a:prstGeom prst="roundRect">
            <a:avLst>
              <a:gd name="adj" fmla="val 4211"/>
            </a:avLst>
          </a:prstGeom>
          <a:solidFill>
            <a:srgbClr val="E4EDF8"/>
          </a:solidFill>
          <a:ln w="25400">
            <a:solidFill>
              <a:srgbClr val="8FB0D6"/>
            </a:solidFill>
            <a:prstDash val="solid"/>
          </a:ln>
        </p:spPr>
      </p:sp>
      <p:sp>
        <p:nvSpPr>
          <p:cNvPr id="5" name="Text 3"/>
          <p:cNvSpPr txBox="1"/>
          <p:nvPr/>
        </p:nvSpPr>
        <p:spPr>
          <a:xfrm>
            <a:off x="777240" y="1783080"/>
            <a:ext cx="2148840" cy="548640"/>
          </a:xfrm>
          <a:prstGeom prst="rect">
            <a:avLst/>
          </a:prstGeom>
          <a:noFill/>
          <a:ln/>
        </p:spPr>
        <p:txBody>
          <a:bodyPr wrap="square" lIns="0" tIns="0" rIns="0" bIns="0" rtlCol="0" anchor="t"/>
          <a:lstStyle/>
          <a:p>
            <a:pPr indent="0" marL="0">
              <a:buNone/>
            </a:pPr>
            <a:r>
              <a:rPr lang="en-US" sz="1600" b="1" dirty="0">
                <a:solidFill>
                  <a:srgbClr val="1E3A5F"/>
                </a:solidFill>
              </a:rPr>
              <a:t>Below reference</a:t>
            </a:r>
            <a:endParaRPr lang="en-US" sz="1600" dirty="0"/>
          </a:p>
        </p:txBody>
      </p:sp>
      <p:sp>
        <p:nvSpPr>
          <p:cNvPr id="6" name="Text 4"/>
          <p:cNvSpPr txBox="1"/>
          <p:nvPr/>
        </p:nvSpPr>
        <p:spPr>
          <a:xfrm>
            <a:off x="777240" y="2423160"/>
            <a:ext cx="2148840" cy="365760"/>
          </a:xfrm>
          <a:prstGeom prst="rect">
            <a:avLst/>
          </a:prstGeom>
          <a:noFill/>
          <a:ln/>
        </p:spPr>
        <p:txBody>
          <a:bodyPr wrap="square" lIns="0" tIns="0" rIns="0" bIns="0" rtlCol="0" anchor="ctr"/>
          <a:lstStyle/>
          <a:p>
            <a:pPr indent="0" marL="0">
              <a:buNone/>
            </a:pPr>
            <a:r>
              <a:rPr lang="en-US" sz="1400" dirty="0">
                <a:solidFill>
                  <a:srgbClr val="1E3A5F"/>
                </a:solidFill>
                <a:latin typeface="Courier New" pitchFamily="34" charset="0"/>
                <a:ea typeface="Courier New" pitchFamily="34" charset="-122"/>
                <a:cs typeface="Courier New" pitchFamily="34" charset="-120"/>
              </a:rPr>
              <a:t>max &lt; reference</a:t>
            </a:r>
            <a:endParaRPr lang="en-US" sz="1400" dirty="0"/>
          </a:p>
        </p:txBody>
      </p:sp>
      <p:sp>
        <p:nvSpPr>
          <p:cNvPr id="7" name="track-below"/>
          <p:cNvSpPr/>
          <p:nvPr/>
        </p:nvSpPr>
        <p:spPr>
          <a:xfrm>
            <a:off x="822960" y="3383280"/>
            <a:ext cx="2057400" cy="128016"/>
          </a:xfrm>
          <a:prstGeom prst="roundRect">
            <a:avLst>
              <a:gd name="adj" fmla="val 50000"/>
            </a:avLst>
          </a:prstGeom>
          <a:solidFill>
            <a:srgbClr val="FFFFFF">
              <a:alpha val="70000"/>
            </a:srgbClr>
          </a:solidFill>
          <a:ln w="6350">
            <a:solidFill>
              <a:srgbClr val="8FB0D6"/>
            </a:solidFill>
            <a:prstDash val="solid"/>
          </a:ln>
        </p:spPr>
      </p:sp>
      <p:sp>
        <p:nvSpPr>
          <p:cNvPr id="8" name="range-below"/>
          <p:cNvSpPr/>
          <p:nvPr/>
        </p:nvSpPr>
        <p:spPr>
          <a:xfrm>
            <a:off x="1028700" y="3383280"/>
            <a:ext cx="720090" cy="128016"/>
          </a:xfrm>
          <a:prstGeom prst="roundRect">
            <a:avLst>
              <a:gd name="adj" fmla="val 50000"/>
            </a:avLst>
          </a:prstGeom>
          <a:solidFill>
            <a:srgbClr val="1E3A5F"/>
          </a:solidFill>
          <a:ln w="12700">
            <a:solidFill>
              <a:srgbClr val="1E3A5F"/>
            </a:solidFill>
            <a:prstDash val="solid"/>
          </a:ln>
        </p:spPr>
      </p:sp>
      <p:sp>
        <p:nvSpPr>
          <p:cNvPr id="9" name="mid-below"/>
          <p:cNvSpPr/>
          <p:nvPr/>
        </p:nvSpPr>
        <p:spPr>
          <a:xfrm>
            <a:off x="1315593" y="3374136"/>
            <a:ext cx="146304" cy="146304"/>
          </a:xfrm>
          <a:prstGeom prst="ellipse">
            <a:avLst/>
          </a:prstGeom>
          <a:solidFill>
            <a:srgbClr val="FFFFFF"/>
          </a:solidFill>
          <a:ln w="19050">
            <a:solidFill>
              <a:srgbClr val="1E3A5F"/>
            </a:solidFill>
            <a:prstDash val="solid"/>
          </a:ln>
        </p:spPr>
      </p:sp>
      <p:sp>
        <p:nvSpPr>
          <p:cNvPr id="10" name="ref-below"/>
          <p:cNvSpPr/>
          <p:nvPr/>
        </p:nvSpPr>
        <p:spPr>
          <a:xfrm>
            <a:off x="2286000" y="3273552"/>
            <a:ext cx="36576" cy="347472"/>
          </a:xfrm>
          <a:prstGeom prst="rect">
            <a:avLst/>
          </a:prstGeom>
          <a:solidFill>
            <a:srgbClr val="1C2B24"/>
          </a:solidFill>
          <a:ln w="12700">
            <a:solidFill>
              <a:srgbClr val="1C2B24"/>
            </a:solidFill>
            <a:prstDash val="solid"/>
          </a:ln>
        </p:spPr>
      </p:sp>
      <p:sp>
        <p:nvSpPr>
          <p:cNvPr id="11" name="Text 9"/>
          <p:cNvSpPr txBox="1"/>
          <p:nvPr/>
        </p:nvSpPr>
        <p:spPr>
          <a:xfrm>
            <a:off x="822960" y="3730752"/>
            <a:ext cx="2057400" cy="274320"/>
          </a:xfrm>
          <a:prstGeom prst="rect">
            <a:avLst/>
          </a:prstGeom>
          <a:noFill/>
          <a:ln/>
        </p:spPr>
        <p:txBody>
          <a:bodyPr wrap="square" lIns="0" tIns="0" rIns="0" bIns="0" rtlCol="0" anchor="ctr"/>
          <a:lstStyle/>
          <a:p>
            <a:pPr indent="0" marL="0">
              <a:buNone/>
            </a:pPr>
            <a:r>
              <a:rPr lang="en-US" sz="1100" dirty="0">
                <a:solidFill>
                  <a:srgbClr val="1E3A5F"/>
                </a:solidFill>
              </a:rPr>
              <a:t>range · midpoint · reference</a:t>
            </a:r>
            <a:endParaRPr lang="en-US" sz="1100" dirty="0"/>
          </a:p>
        </p:txBody>
      </p:sp>
      <p:sp>
        <p:nvSpPr>
          <p:cNvPr id="12" name="case-includes"/>
          <p:cNvSpPr/>
          <p:nvPr/>
        </p:nvSpPr>
        <p:spPr>
          <a:xfrm>
            <a:off x="3364992" y="1554480"/>
            <a:ext cx="2606040" cy="2743200"/>
          </a:xfrm>
          <a:prstGeom prst="roundRect">
            <a:avLst>
              <a:gd name="adj" fmla="val 4211"/>
            </a:avLst>
          </a:prstGeom>
          <a:solidFill>
            <a:srgbClr val="E3F0E1"/>
          </a:solidFill>
          <a:ln w="25400">
            <a:solidFill>
              <a:srgbClr val="8FBF8A"/>
            </a:solidFill>
            <a:prstDash val="solid"/>
          </a:ln>
        </p:spPr>
      </p:sp>
      <p:sp>
        <p:nvSpPr>
          <p:cNvPr id="13" name="Text 11"/>
          <p:cNvSpPr txBox="1"/>
          <p:nvPr/>
        </p:nvSpPr>
        <p:spPr>
          <a:xfrm>
            <a:off x="3593592" y="1783080"/>
            <a:ext cx="2148840" cy="548640"/>
          </a:xfrm>
          <a:prstGeom prst="rect">
            <a:avLst/>
          </a:prstGeom>
          <a:noFill/>
          <a:ln/>
        </p:spPr>
        <p:txBody>
          <a:bodyPr wrap="square" lIns="0" tIns="0" rIns="0" bIns="0" rtlCol="0" anchor="t"/>
          <a:lstStyle/>
          <a:p>
            <a:pPr indent="0" marL="0">
              <a:buNone/>
            </a:pPr>
            <a:r>
              <a:rPr lang="en-US" sz="1600" b="1" dirty="0">
                <a:solidFill>
                  <a:srgbClr val="1E4D2B"/>
                </a:solidFill>
              </a:rPr>
              <a:t>Range includes reference</a:t>
            </a:r>
            <a:endParaRPr lang="en-US" sz="1600" dirty="0"/>
          </a:p>
        </p:txBody>
      </p:sp>
      <p:sp>
        <p:nvSpPr>
          <p:cNvPr id="14" name="Text 12"/>
          <p:cNvSpPr txBox="1"/>
          <p:nvPr/>
        </p:nvSpPr>
        <p:spPr>
          <a:xfrm>
            <a:off x="3593592" y="2423160"/>
            <a:ext cx="2148840" cy="365760"/>
          </a:xfrm>
          <a:prstGeom prst="rect">
            <a:avLst/>
          </a:prstGeom>
          <a:noFill/>
          <a:ln/>
        </p:spPr>
        <p:txBody>
          <a:bodyPr wrap="square" lIns="0" tIns="0" rIns="0" bIns="0" rtlCol="0" anchor="ctr"/>
          <a:lstStyle/>
          <a:p>
            <a:pPr indent="0" marL="0">
              <a:buNone/>
            </a:pPr>
            <a:r>
              <a:rPr lang="en-US" sz="1400" dirty="0">
                <a:solidFill>
                  <a:srgbClr val="1E4D2B"/>
                </a:solidFill>
                <a:latin typeface="Courier New" pitchFamily="34" charset="0"/>
                <a:ea typeface="Courier New" pitchFamily="34" charset="-122"/>
                <a:cs typeface="Courier New" pitchFamily="34" charset="-120"/>
              </a:rPr>
              <a:t>min ≤ reference ≤ max</a:t>
            </a:r>
            <a:endParaRPr lang="en-US" sz="1400" dirty="0"/>
          </a:p>
        </p:txBody>
      </p:sp>
      <p:sp>
        <p:nvSpPr>
          <p:cNvPr id="15" name="track-includes"/>
          <p:cNvSpPr/>
          <p:nvPr/>
        </p:nvSpPr>
        <p:spPr>
          <a:xfrm>
            <a:off x="3639312" y="3383280"/>
            <a:ext cx="2057400" cy="128016"/>
          </a:xfrm>
          <a:prstGeom prst="roundRect">
            <a:avLst>
              <a:gd name="adj" fmla="val 50000"/>
            </a:avLst>
          </a:prstGeom>
          <a:solidFill>
            <a:srgbClr val="FFFFFF">
              <a:alpha val="70000"/>
            </a:srgbClr>
          </a:solidFill>
          <a:ln w="6350">
            <a:solidFill>
              <a:srgbClr val="8FBF8A"/>
            </a:solidFill>
            <a:prstDash val="solid"/>
          </a:ln>
        </p:spPr>
      </p:sp>
      <p:sp>
        <p:nvSpPr>
          <p:cNvPr id="16" name="range-includes"/>
          <p:cNvSpPr/>
          <p:nvPr/>
        </p:nvSpPr>
        <p:spPr>
          <a:xfrm>
            <a:off x="4256532" y="3383280"/>
            <a:ext cx="822960" cy="128016"/>
          </a:xfrm>
          <a:prstGeom prst="roundRect">
            <a:avLst>
              <a:gd name="adj" fmla="val 50000"/>
            </a:avLst>
          </a:prstGeom>
          <a:solidFill>
            <a:srgbClr val="1E4D2B"/>
          </a:solidFill>
          <a:ln w="12700">
            <a:solidFill>
              <a:srgbClr val="1E4D2B"/>
            </a:solidFill>
            <a:prstDash val="solid"/>
          </a:ln>
        </p:spPr>
      </p:sp>
      <p:sp>
        <p:nvSpPr>
          <p:cNvPr id="17" name="mid-includes"/>
          <p:cNvSpPr/>
          <p:nvPr/>
        </p:nvSpPr>
        <p:spPr>
          <a:xfrm>
            <a:off x="4594860" y="3374136"/>
            <a:ext cx="146304" cy="146304"/>
          </a:xfrm>
          <a:prstGeom prst="ellipse">
            <a:avLst/>
          </a:prstGeom>
          <a:solidFill>
            <a:srgbClr val="FFFFFF"/>
          </a:solidFill>
          <a:ln w="19050">
            <a:solidFill>
              <a:srgbClr val="1E4D2B"/>
            </a:solidFill>
            <a:prstDash val="solid"/>
          </a:ln>
        </p:spPr>
      </p:sp>
      <p:sp>
        <p:nvSpPr>
          <p:cNvPr id="18" name="ref-includes"/>
          <p:cNvSpPr/>
          <p:nvPr/>
        </p:nvSpPr>
        <p:spPr>
          <a:xfrm>
            <a:off x="4690872" y="3273552"/>
            <a:ext cx="36576" cy="347472"/>
          </a:xfrm>
          <a:prstGeom prst="rect">
            <a:avLst/>
          </a:prstGeom>
          <a:solidFill>
            <a:srgbClr val="1C2B24"/>
          </a:solidFill>
          <a:ln w="12700">
            <a:solidFill>
              <a:srgbClr val="1C2B24"/>
            </a:solidFill>
            <a:prstDash val="solid"/>
          </a:ln>
        </p:spPr>
      </p:sp>
      <p:sp>
        <p:nvSpPr>
          <p:cNvPr id="19" name="Text 17"/>
          <p:cNvSpPr txBox="1"/>
          <p:nvPr/>
        </p:nvSpPr>
        <p:spPr>
          <a:xfrm>
            <a:off x="3639312" y="3730752"/>
            <a:ext cx="2057400" cy="274320"/>
          </a:xfrm>
          <a:prstGeom prst="rect">
            <a:avLst/>
          </a:prstGeom>
          <a:noFill/>
          <a:ln/>
        </p:spPr>
        <p:txBody>
          <a:bodyPr wrap="square" lIns="0" tIns="0" rIns="0" bIns="0" rtlCol="0" anchor="ctr"/>
          <a:lstStyle/>
          <a:p>
            <a:pPr indent="0" marL="0">
              <a:buNone/>
            </a:pPr>
            <a:r>
              <a:rPr lang="en-US" sz="1100" dirty="0">
                <a:solidFill>
                  <a:srgbClr val="1E4D2B"/>
                </a:solidFill>
              </a:rPr>
              <a:t>range · midpoint · reference</a:t>
            </a:r>
            <a:endParaRPr lang="en-US" sz="1100" dirty="0"/>
          </a:p>
        </p:txBody>
      </p:sp>
      <p:sp>
        <p:nvSpPr>
          <p:cNvPr id="20" name="case-above"/>
          <p:cNvSpPr/>
          <p:nvPr/>
        </p:nvSpPr>
        <p:spPr>
          <a:xfrm>
            <a:off x="6181344" y="1554480"/>
            <a:ext cx="2606040" cy="2743200"/>
          </a:xfrm>
          <a:prstGeom prst="roundRect">
            <a:avLst>
              <a:gd name="adj" fmla="val 4211"/>
            </a:avLst>
          </a:prstGeom>
          <a:solidFill>
            <a:srgbClr val="FDEFD6"/>
          </a:solidFill>
          <a:ln w="25400">
            <a:solidFill>
              <a:srgbClr val="D9A35A"/>
            </a:solidFill>
            <a:prstDash val="solid"/>
          </a:ln>
        </p:spPr>
      </p:sp>
      <p:sp>
        <p:nvSpPr>
          <p:cNvPr id="21" name="Text 19"/>
          <p:cNvSpPr txBox="1"/>
          <p:nvPr/>
        </p:nvSpPr>
        <p:spPr>
          <a:xfrm>
            <a:off x="6409944" y="1783080"/>
            <a:ext cx="2148840" cy="548640"/>
          </a:xfrm>
          <a:prstGeom prst="rect">
            <a:avLst/>
          </a:prstGeom>
          <a:noFill/>
          <a:ln/>
        </p:spPr>
        <p:txBody>
          <a:bodyPr wrap="square" lIns="0" tIns="0" rIns="0" bIns="0" rtlCol="0" anchor="t"/>
          <a:lstStyle/>
          <a:p>
            <a:pPr indent="0" marL="0">
              <a:buNone/>
            </a:pPr>
            <a:r>
              <a:rPr lang="en-US" sz="1600" b="1" dirty="0">
                <a:solidFill>
                  <a:srgbClr val="6B3A12"/>
                </a:solidFill>
              </a:rPr>
              <a:t>Above reference</a:t>
            </a:r>
            <a:endParaRPr lang="en-US" sz="1600" dirty="0"/>
          </a:p>
        </p:txBody>
      </p:sp>
      <p:sp>
        <p:nvSpPr>
          <p:cNvPr id="22" name="Text 20"/>
          <p:cNvSpPr txBox="1"/>
          <p:nvPr/>
        </p:nvSpPr>
        <p:spPr>
          <a:xfrm>
            <a:off x="6409944" y="2423160"/>
            <a:ext cx="2148840" cy="365760"/>
          </a:xfrm>
          <a:prstGeom prst="rect">
            <a:avLst/>
          </a:prstGeom>
          <a:noFill/>
          <a:ln/>
        </p:spPr>
        <p:txBody>
          <a:bodyPr wrap="square" lIns="0" tIns="0" rIns="0" bIns="0" rtlCol="0" anchor="ctr"/>
          <a:lstStyle/>
          <a:p>
            <a:pPr indent="0" marL="0">
              <a:buNone/>
            </a:pPr>
            <a:r>
              <a:rPr lang="en-US" sz="1400" dirty="0">
                <a:solidFill>
                  <a:srgbClr val="6B3A12"/>
                </a:solidFill>
                <a:latin typeface="Courier New" pitchFamily="34" charset="0"/>
                <a:ea typeface="Courier New" pitchFamily="34" charset="-122"/>
                <a:cs typeface="Courier New" pitchFamily="34" charset="-120"/>
              </a:rPr>
              <a:t>min &gt; reference</a:t>
            </a:r>
            <a:endParaRPr lang="en-US" sz="1400" dirty="0"/>
          </a:p>
        </p:txBody>
      </p:sp>
      <p:sp>
        <p:nvSpPr>
          <p:cNvPr id="23" name="track-above"/>
          <p:cNvSpPr/>
          <p:nvPr/>
        </p:nvSpPr>
        <p:spPr>
          <a:xfrm>
            <a:off x="6455664" y="3383280"/>
            <a:ext cx="2057400" cy="128016"/>
          </a:xfrm>
          <a:prstGeom prst="roundRect">
            <a:avLst>
              <a:gd name="adj" fmla="val 50000"/>
            </a:avLst>
          </a:prstGeom>
          <a:solidFill>
            <a:srgbClr val="FFFFFF">
              <a:alpha val="70000"/>
            </a:srgbClr>
          </a:solidFill>
          <a:ln w="6350">
            <a:solidFill>
              <a:srgbClr val="D9A35A"/>
            </a:solidFill>
            <a:prstDash val="solid"/>
          </a:ln>
        </p:spPr>
      </p:sp>
      <p:sp>
        <p:nvSpPr>
          <p:cNvPr id="24" name="range-above"/>
          <p:cNvSpPr/>
          <p:nvPr/>
        </p:nvSpPr>
        <p:spPr>
          <a:xfrm>
            <a:off x="7587234" y="3383280"/>
            <a:ext cx="678942" cy="128016"/>
          </a:xfrm>
          <a:prstGeom prst="roundRect">
            <a:avLst>
              <a:gd name="adj" fmla="val 50000"/>
            </a:avLst>
          </a:prstGeom>
          <a:solidFill>
            <a:srgbClr val="6B3A12"/>
          </a:solidFill>
          <a:ln w="12700">
            <a:solidFill>
              <a:srgbClr val="6B3A12"/>
            </a:solidFill>
            <a:prstDash val="solid"/>
          </a:ln>
        </p:spPr>
      </p:sp>
      <p:sp>
        <p:nvSpPr>
          <p:cNvPr id="25" name="mid-above"/>
          <p:cNvSpPr/>
          <p:nvPr/>
        </p:nvSpPr>
        <p:spPr>
          <a:xfrm>
            <a:off x="7853553" y="3374136"/>
            <a:ext cx="146304" cy="146304"/>
          </a:xfrm>
          <a:prstGeom prst="ellipse">
            <a:avLst/>
          </a:prstGeom>
          <a:solidFill>
            <a:srgbClr val="FFFFFF"/>
          </a:solidFill>
          <a:ln w="19050">
            <a:solidFill>
              <a:srgbClr val="6B3A12"/>
            </a:solidFill>
            <a:prstDash val="solid"/>
          </a:ln>
        </p:spPr>
      </p:sp>
      <p:sp>
        <p:nvSpPr>
          <p:cNvPr id="26" name="ref-above"/>
          <p:cNvSpPr/>
          <p:nvPr/>
        </p:nvSpPr>
        <p:spPr>
          <a:xfrm>
            <a:off x="7095744" y="3273552"/>
            <a:ext cx="36576" cy="347472"/>
          </a:xfrm>
          <a:prstGeom prst="rect">
            <a:avLst/>
          </a:prstGeom>
          <a:solidFill>
            <a:srgbClr val="1C2B24"/>
          </a:solidFill>
          <a:ln w="12700">
            <a:solidFill>
              <a:srgbClr val="1C2B24"/>
            </a:solidFill>
            <a:prstDash val="solid"/>
          </a:ln>
        </p:spPr>
      </p:sp>
      <p:sp>
        <p:nvSpPr>
          <p:cNvPr id="27" name="Text 25"/>
          <p:cNvSpPr txBox="1"/>
          <p:nvPr/>
        </p:nvSpPr>
        <p:spPr>
          <a:xfrm>
            <a:off x="6455664" y="3730752"/>
            <a:ext cx="2057400" cy="274320"/>
          </a:xfrm>
          <a:prstGeom prst="rect">
            <a:avLst/>
          </a:prstGeom>
          <a:noFill/>
          <a:ln/>
        </p:spPr>
        <p:txBody>
          <a:bodyPr wrap="square" lIns="0" tIns="0" rIns="0" bIns="0" rtlCol="0" anchor="ctr"/>
          <a:lstStyle/>
          <a:p>
            <a:pPr indent="0" marL="0">
              <a:buNone/>
            </a:pPr>
            <a:r>
              <a:rPr lang="en-US" sz="1100" dirty="0">
                <a:solidFill>
                  <a:srgbClr val="6B3A12"/>
                </a:solidFill>
              </a:rPr>
              <a:t>range · midpoint · reference</a:t>
            </a:r>
            <a:endParaRPr lang="en-US" sz="1100" dirty="0"/>
          </a:p>
        </p:txBody>
      </p:sp>
      <p:sp>
        <p:nvSpPr>
          <p:cNvPr id="28" name="case-unknown"/>
          <p:cNvSpPr/>
          <p:nvPr/>
        </p:nvSpPr>
        <p:spPr>
          <a:xfrm>
            <a:off x="8997696" y="1554480"/>
            <a:ext cx="2606040" cy="2743200"/>
          </a:xfrm>
          <a:prstGeom prst="roundRect">
            <a:avLst>
              <a:gd name="adj" fmla="val 4211"/>
            </a:avLst>
          </a:prstGeom>
          <a:solidFill>
            <a:srgbClr val="EEEEEC"/>
          </a:solidFill>
          <a:ln w="25400">
            <a:solidFill>
              <a:srgbClr val="BDBDB8"/>
            </a:solidFill>
            <a:prstDash val="solid"/>
          </a:ln>
        </p:spPr>
      </p:sp>
      <p:sp>
        <p:nvSpPr>
          <p:cNvPr id="29" name="Text 27"/>
          <p:cNvSpPr txBox="1"/>
          <p:nvPr/>
        </p:nvSpPr>
        <p:spPr>
          <a:xfrm>
            <a:off x="9226296" y="1783080"/>
            <a:ext cx="2148840" cy="548640"/>
          </a:xfrm>
          <a:prstGeom prst="rect">
            <a:avLst/>
          </a:prstGeom>
          <a:noFill/>
          <a:ln/>
        </p:spPr>
        <p:txBody>
          <a:bodyPr wrap="square" lIns="0" tIns="0" rIns="0" bIns="0" rtlCol="0" anchor="t"/>
          <a:lstStyle/>
          <a:p>
            <a:pPr indent="0" marL="0">
              <a:buNone/>
            </a:pPr>
            <a:r>
              <a:rPr lang="en-US" sz="1600" b="1" dirty="0">
                <a:solidFill>
                  <a:srgbClr val="44443F"/>
                </a:solidFill>
              </a:rPr>
              <a:t>Estimate unknown</a:t>
            </a:r>
            <a:endParaRPr lang="en-US" sz="1600" dirty="0"/>
          </a:p>
        </p:txBody>
      </p:sp>
      <p:sp>
        <p:nvSpPr>
          <p:cNvPr id="30" name="Text 28"/>
          <p:cNvSpPr txBox="1"/>
          <p:nvPr/>
        </p:nvSpPr>
        <p:spPr>
          <a:xfrm>
            <a:off x="9226296" y="2423160"/>
            <a:ext cx="2148840" cy="365760"/>
          </a:xfrm>
          <a:prstGeom prst="rect">
            <a:avLst/>
          </a:prstGeom>
          <a:noFill/>
          <a:ln/>
        </p:spPr>
        <p:txBody>
          <a:bodyPr wrap="square" lIns="0" tIns="0" rIns="0" bIns="0" rtlCol="0" anchor="ctr"/>
          <a:lstStyle/>
          <a:p>
            <a:pPr indent="0" marL="0">
              <a:buNone/>
            </a:pPr>
            <a:r>
              <a:rPr lang="en-US" sz="1400" dirty="0">
                <a:solidFill>
                  <a:srgbClr val="44443F"/>
                </a:solidFill>
                <a:latin typeface="Courier New" pitchFamily="34" charset="0"/>
                <a:ea typeface="Courier New" pitchFamily="34" charset="-122"/>
                <a:cs typeface="Courier New" pitchFamily="34" charset="-120"/>
              </a:rPr>
              <a:t>range is null</a:t>
            </a:r>
            <a:endParaRPr lang="en-US" sz="1400" dirty="0"/>
          </a:p>
        </p:txBody>
      </p:sp>
      <p:sp>
        <p:nvSpPr>
          <p:cNvPr id="31" name="track-unknown"/>
          <p:cNvSpPr/>
          <p:nvPr/>
        </p:nvSpPr>
        <p:spPr>
          <a:xfrm>
            <a:off x="9272016" y="3383280"/>
            <a:ext cx="2057400" cy="128016"/>
          </a:xfrm>
          <a:prstGeom prst="roundRect">
            <a:avLst>
              <a:gd name="adj" fmla="val 50000"/>
            </a:avLst>
          </a:prstGeom>
          <a:solidFill>
            <a:srgbClr val="FFFFFF">
              <a:alpha val="70000"/>
            </a:srgbClr>
          </a:solidFill>
          <a:ln w="6350">
            <a:solidFill>
              <a:srgbClr val="BDBDB8"/>
            </a:solidFill>
            <a:prstDash val="solid"/>
          </a:ln>
        </p:spPr>
      </p:sp>
      <p:sp>
        <p:nvSpPr>
          <p:cNvPr id="32" name="Text 30"/>
          <p:cNvSpPr txBox="1"/>
          <p:nvPr/>
        </p:nvSpPr>
        <p:spPr>
          <a:xfrm>
            <a:off x="9272016" y="3730752"/>
            <a:ext cx="2057400" cy="274320"/>
          </a:xfrm>
          <a:prstGeom prst="rect">
            <a:avLst/>
          </a:prstGeom>
          <a:noFill/>
          <a:ln/>
        </p:spPr>
        <p:txBody>
          <a:bodyPr wrap="square" lIns="0" tIns="0" rIns="0" bIns="0" rtlCol="0" anchor="ctr"/>
          <a:lstStyle/>
          <a:p>
            <a:pPr indent="0" marL="0">
              <a:buNone/>
            </a:pPr>
            <a:r>
              <a:rPr lang="en-US" sz="1100" dirty="0">
                <a:solidFill>
                  <a:srgbClr val="44443F"/>
                </a:solidFill>
              </a:rPr>
              <a:t>No bar, no comparison</a:t>
            </a:r>
            <a:endParaRPr lang="en-US" sz="1100" dirty="0"/>
          </a:p>
        </p:txBody>
      </p:sp>
      <p:sp>
        <p:nvSpPr>
          <p:cNvPr id="33" name="Text 31"/>
          <p:cNvSpPr txBox="1"/>
          <p:nvPr/>
        </p:nvSpPr>
        <p:spPr>
          <a:xfrm>
            <a:off x="548640" y="4617720"/>
            <a:ext cx="11064240" cy="1600200"/>
          </a:xfrm>
          <a:prstGeom prst="rect">
            <a:avLst/>
          </a:prstGeom>
          <a:noFill/>
          <a:ln/>
        </p:spPr>
        <p:txBody>
          <a:bodyPr wrap="square" lIns="0" tIns="0" rIns="0" bIns="0" rtlCol="0" anchor="t"/>
          <a:lstStyle/>
          <a:p>
            <a:pPr marL="203200" indent="-203200">
              <a:spcAft>
                <a:spcPts val="1000"/>
              </a:spcAft>
              <a:buSzPct val="100000"/>
              <a:buChar char="•"/>
            </a:pPr>
            <a:r>
              <a:rPr lang="en-US" sz="1500" b="1" dirty="0">
                <a:solidFill>
                  <a:schemeClr val="tx1"/>
                </a:solidFill>
              </a:rPr>
              <a:t>The whole interval is compared, </a:t>
            </a:r>
            <a:pPr indent="0" marL="0">
              <a:spcAft>
                <a:spcPts val="1000"/>
              </a:spcAft>
              <a:buNone/>
            </a:pPr>
            <a:r>
              <a:rPr lang="en-US" sz="1500" dirty="0">
                <a:solidFill>
                  <a:schemeClr val="tx1"/>
                </a:solidFill>
              </a:rPr>
              <a:t>equality counts as “includes” — never just the midpoint.</a:t>
            </a:r>
            <a:endParaRPr lang="en-US" sz="1500" dirty="0"/>
          </a:p>
          <a:p>
            <a:pPr marL="203200" indent="-203200">
              <a:spcAft>
                <a:spcPts val="1000"/>
              </a:spcAft>
              <a:buSzPct val="100000"/>
              <a:buChar char="•"/>
            </a:pPr>
            <a:r>
              <a:rPr lang="en-US" sz="1500" b="1" dirty="0">
                <a:solidFill>
                  <a:schemeClr val="tx1"/>
                </a:solidFill>
              </a:rPr>
              <a:t>Colours never rate how healthy food is; </a:t>
            </a:r>
            <a:pPr indent="0" marL="0">
              <a:spcAft>
                <a:spcPts val="1000"/>
              </a:spcAft>
              <a:buNone/>
            </a:pPr>
            <a:r>
              <a:rPr lang="en-US" sz="1500" dirty="0">
                <a:solidFill>
                  <a:schemeClr val="tx1"/>
                </a:solidFill>
              </a:rPr>
              <a:t>they only describe the comparison with the selected reference.</a:t>
            </a:r>
            <a:endParaRPr lang="en-US" sz="1500" dirty="0"/>
          </a:p>
          <a:p>
            <a:pPr marL="203200" indent="-203200">
              <a:spcAft>
                <a:spcPts val="1000"/>
              </a:spcAft>
              <a:buSzPct val="100000"/>
              <a:buChar char="•"/>
            </a:pPr>
            <a:r>
              <a:rPr lang="en-US" sz="1500" b="1" dirty="0">
                <a:solidFill>
                  <a:schemeClr val="tx1"/>
                </a:solidFill>
              </a:rPr>
              <a:t>Accessible: </a:t>
            </a:r>
            <a:pPr indent="0" marL="0">
              <a:spcAft>
                <a:spcPts val="1000"/>
              </a:spcAft>
              <a:buNone/>
            </a:pPr>
            <a:r>
              <a:rPr lang="en-US" sz="1500" dirty="0">
                <a:solidFill>
                  <a:schemeClr val="tx1"/>
                </a:solidFill>
              </a:rPr>
              <a:t>text badges plus colour; palette checked for 4.5:1 text and 3:1 graphic contrast.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07 · INTERACTIVE SAMPLE</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Try it before uploading anything</a:t>
            </a:r>
            <a:endParaRPr lang="en-US" sz="3400" dirty="0"/>
          </a:p>
        </p:txBody>
      </p:sp>
      <p:sp>
        <p:nvSpPr>
          <p:cNvPr id="4" name="frame-sample-loss.png"/>
          <p:cNvSpPr/>
          <p:nvPr/>
        </p:nvSpPr>
        <p:spPr>
          <a:xfrm>
            <a:off x="548640" y="1458580"/>
            <a:ext cx="4754880" cy="4580921"/>
          </a:xfrm>
          <a:prstGeom prst="roundRect">
            <a:avLst>
              <a:gd name="adj" fmla="val 1597"/>
            </a:avLst>
          </a:prstGeom>
          <a:solidFill>
            <a:schemeClr val="bg1"/>
          </a:solidFill>
          <a:ln w="9525">
            <a:solidFill>
              <a:srgbClr val="DADFD6"/>
            </a:solidFill>
            <a:prstDash val="solid"/>
          </a:ln>
          <a:effectLst>
            <a:outerShdw sx="100000" sy="100000" kx="0" ky="0" algn="bl" rotWithShape="0" blurRad="177800" dist="38100" dir="5400000">
              <a:srgbClr val="1C2B24">
                <a:alpha val="16000"/>
              </a:srgbClr>
            </a:outerShdw>
          </a:effectLst>
        </p:spPr>
      </p:sp>
      <p:pic>
        <p:nvPicPr>
          <p:cNvPr id="5" name="img-sample-loss.png" descr="Interactive landing sample with goal tabs">    </p:cNvPr>
          <p:cNvPicPr>
            <a:picLocks noChangeAspect="1"/>
          </p:cNvPicPr>
          <p:nvPr/>
        </p:nvPicPr>
        <p:blipFill>
          <a:blip r:embed="rId1"/>
          <a:stretch>
            <a:fillRect/>
          </a:stretch>
        </p:blipFill>
        <p:spPr>
          <a:xfrm>
            <a:off x="621792" y="1531732"/>
            <a:ext cx="4608576" cy="4434617"/>
          </a:xfrm>
          <a:prstGeom prst="rect">
            <a:avLst/>
          </a:prstGeom>
        </p:spPr>
      </p:pic>
      <p:sp>
        <p:nvSpPr>
          <p:cNvPr id="6" name="Text 3"/>
          <p:cNvSpPr txBox="1"/>
          <p:nvPr/>
        </p:nvSpPr>
        <p:spPr>
          <a:xfrm>
            <a:off x="548640" y="6112652"/>
            <a:ext cx="5029200" cy="274320"/>
          </a:xfrm>
          <a:prstGeom prst="rect">
            <a:avLst/>
          </a:prstGeom>
          <a:noFill/>
          <a:ln/>
        </p:spPr>
        <p:txBody>
          <a:bodyPr wrap="square" lIns="0" tIns="0" rIns="0" bIns="0" rtlCol="0" anchor="ctr"/>
          <a:lstStyle/>
          <a:p>
            <a:pPr indent="0" marL="0">
              <a:buNone/>
            </a:pPr>
            <a:r>
              <a:rPr lang="en-US" sz="1000" i="1" dirty="0">
                <a:solidFill>
                  <a:srgbClr val="5F6B64"/>
                </a:solidFill>
              </a:rPr>
              <a:t>Landing page “#sample-result” with Weight loss selected</a:t>
            </a:r>
            <a:endParaRPr lang="en-US" sz="1000" dirty="0"/>
          </a:p>
        </p:txBody>
      </p:sp>
      <p:sp>
        <p:nvSpPr>
          <p:cNvPr id="7" name="Text 4"/>
          <p:cNvSpPr txBox="1"/>
          <p:nvPr/>
        </p:nvSpPr>
        <p:spPr>
          <a:xfrm>
            <a:off x="5760720" y="1554480"/>
            <a:ext cx="5897880" cy="4572000"/>
          </a:xfrm>
          <a:prstGeom prst="rect">
            <a:avLst/>
          </a:prstGeom>
          <a:noFill/>
          <a:ln/>
        </p:spPr>
        <p:txBody>
          <a:bodyPr wrap="square" lIns="0" tIns="0" rIns="0" bIns="0" rtlCol="0" anchor="t"/>
          <a:lstStyle/>
          <a:p>
            <a:pPr marL="203200" indent="-203200">
              <a:spcAft>
                <a:spcPts val="1000"/>
              </a:spcAft>
              <a:buSzPct val="100000"/>
              <a:buChar char="•"/>
            </a:pPr>
            <a:r>
              <a:rPr lang="en-US" sz="1500" b="1" dirty="0">
                <a:solidFill>
                  <a:schemeClr val="tx1"/>
                </a:solidFill>
              </a:rPr>
              <a:t>Explore a demo goal: </a:t>
            </a:r>
            <a:pPr indent="0" marL="0">
              <a:spcAft>
                <a:spcPts val="1000"/>
              </a:spcAft>
              <a:buNone/>
            </a:pPr>
            <a:r>
              <a:rPr lang="en-US" sz="1500" dirty="0">
                <a:solidFill>
                  <a:schemeClr val="tx1"/>
                </a:solidFill>
              </a:rPr>
              <a:t>the same three goal tabs on a sample quinoa and chickpea bowl.</a:t>
            </a:r>
            <a:endParaRPr lang="en-US" sz="1500" dirty="0"/>
          </a:p>
          <a:p>
            <a:pPr marL="203200" indent="-203200">
              <a:spcAft>
                <a:spcPts val="1000"/>
              </a:spcAft>
              <a:buSzPct val="100000"/>
              <a:buChar char="•"/>
            </a:pPr>
            <a:r>
              <a:rPr lang="en-US" sz="1500" b="1" dirty="0">
                <a:solidFill>
                  <a:schemeClr val="tx1"/>
                </a:solidFill>
              </a:rPr>
              <a:t>No photo, key or model call needed </a:t>
            </a:r>
            <a:pPr indent="0" marL="0">
              <a:spcAft>
                <a:spcPts val="1000"/>
              </a:spcAft>
              <a:buNone/>
            </a:pPr>
            <a:r>
              <a:rPr lang="en-US" sz="1500" dirty="0">
                <a:solidFill>
                  <a:schemeClr val="tx1"/>
                </a:solidFill>
              </a:rPr>
              <a:t>— visitors see the comparison idea instantly.</a:t>
            </a:r>
            <a:endParaRPr lang="en-US" sz="1500" dirty="0"/>
          </a:p>
          <a:p>
            <a:pPr marL="203200" indent="-203200">
              <a:spcAft>
                <a:spcPts val="1000"/>
              </a:spcAft>
              <a:buSzPct val="100000"/>
              <a:buChar char="•"/>
            </a:pPr>
            <a:r>
              <a:rPr lang="en-US" sz="1500" b="1" dirty="0">
                <a:solidFill>
                  <a:schemeClr val="tx1"/>
                </a:solidFill>
              </a:rPr>
              <a:t>Independent state: </a:t>
            </a:r>
            <a:pPr indent="0" marL="0">
              <a:spcAft>
                <a:spcPts val="1000"/>
              </a:spcAft>
              <a:buNone/>
            </a:pPr>
            <a:r>
              <a:rPr lang="en-US" sz="1500" dirty="0">
                <a:solidFill>
                  <a:schemeClr val="tx1"/>
                </a:solidFill>
              </a:rPr>
              <a:t>the sample’s goal never changes the analyzer’s goal, and vice versa.</a:t>
            </a:r>
            <a:endParaRPr lang="en-US" sz="1500" dirty="0"/>
          </a:p>
          <a:p>
            <a:pPr marL="203200" indent="-203200">
              <a:spcAft>
                <a:spcPts val="1000"/>
              </a:spcAft>
              <a:buSzPct val="100000"/>
              <a:buChar char="•"/>
            </a:pPr>
            <a:r>
              <a:rPr lang="en-US" sz="1500" b="1" dirty="0">
                <a:solidFill>
                  <a:schemeClr val="tx1"/>
                </a:solidFill>
              </a:rPr>
              <a:t>Clearly labelled </a:t>
            </a:r>
            <a:pPr indent="0" marL="0">
              <a:spcAft>
                <a:spcPts val="1000"/>
              </a:spcAft>
              <a:buNone/>
            </a:pPr>
            <a:r>
              <a:rPr lang="en-US" sz="1500" dirty="0">
                <a:solidFill>
                  <a:schemeClr val="tx1"/>
                </a:solidFill>
              </a:rPr>
              <a:t>“Sample illustrative result” and “Demonstration presets — not personalised recommendations”.</a:t>
            </a:r>
            <a:endParaRPr lang="en-US" sz="1500" dirty="0"/>
          </a:p>
          <a:p>
            <a:pPr marL="203200" indent="-203200">
              <a:spcAft>
                <a:spcPts val="1000"/>
              </a:spcAft>
              <a:buSzPct val="100000"/>
              <a:buChar char="•"/>
            </a:pPr>
            <a:r>
              <a:rPr lang="en-US" sz="1500" b="1" dirty="0">
                <a:solidFill>
                  <a:schemeClr val="tx1"/>
                </a:solidFill>
              </a:rPr>
              <a:t>Keyboard friendly: </a:t>
            </a:r>
            <a:pPr indent="0" marL="0">
              <a:spcAft>
                <a:spcPts val="1000"/>
              </a:spcAft>
              <a:buNone/>
            </a:pPr>
            <a:r>
              <a:rPr lang="en-US" sz="1500" dirty="0">
                <a:solidFill>
                  <a:schemeClr val="tx1"/>
                </a:solidFill>
              </a:rPr>
              <a:t>native radio group — Tab to enter, arrow keys to switch.</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08 · WHEN THINGS GO WRONG</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Failing safely instead of inventing answers</a:t>
            </a:r>
            <a:endParaRPr lang="en-US" sz="3400" dirty="0"/>
          </a:p>
        </p:txBody>
      </p:sp>
      <p:sp>
        <p:nvSpPr>
          <p:cNvPr id="4" name="frame-unclear-panel.png"/>
          <p:cNvSpPr/>
          <p:nvPr/>
        </p:nvSpPr>
        <p:spPr>
          <a:xfrm>
            <a:off x="548640" y="1508760"/>
            <a:ext cx="5394960" cy="3318522"/>
          </a:xfrm>
          <a:prstGeom prst="roundRect">
            <a:avLst>
              <a:gd name="adj" fmla="val 2204"/>
            </a:avLst>
          </a:prstGeom>
          <a:solidFill>
            <a:schemeClr val="bg1"/>
          </a:solidFill>
          <a:ln w="9525">
            <a:solidFill>
              <a:srgbClr val="DADFD6"/>
            </a:solidFill>
            <a:prstDash val="solid"/>
          </a:ln>
          <a:effectLst>
            <a:outerShdw sx="100000" sy="100000" kx="0" ky="0" algn="bl" rotWithShape="0" blurRad="177800" dist="38100" dir="5400000">
              <a:srgbClr val="1C2B24">
                <a:alpha val="16000"/>
              </a:srgbClr>
            </a:outerShdw>
          </a:effectLst>
        </p:spPr>
      </p:sp>
      <p:pic>
        <p:nvPicPr>
          <p:cNvPr id="5" name="img-unclear-panel.png" descr="Unclear photo result">    </p:cNvPr>
          <p:cNvPicPr>
            <a:picLocks noChangeAspect="1"/>
          </p:cNvPicPr>
          <p:nvPr/>
        </p:nvPicPr>
        <p:blipFill>
          <a:blip r:embed="rId1"/>
          <a:stretch>
            <a:fillRect/>
          </a:stretch>
        </p:blipFill>
        <p:spPr>
          <a:xfrm>
            <a:off x="621792" y="1581912"/>
            <a:ext cx="5248656" cy="3172218"/>
          </a:xfrm>
          <a:prstGeom prst="rect">
            <a:avLst/>
          </a:prstGeom>
        </p:spPr>
      </p:pic>
      <p:sp>
        <p:nvSpPr>
          <p:cNvPr id="6" name="Text 3"/>
          <p:cNvSpPr txBox="1"/>
          <p:nvPr/>
        </p:nvSpPr>
        <p:spPr>
          <a:xfrm>
            <a:off x="548640" y="5074920"/>
            <a:ext cx="5394960" cy="365760"/>
          </a:xfrm>
          <a:prstGeom prst="rect">
            <a:avLst/>
          </a:prstGeom>
          <a:noFill/>
          <a:ln/>
        </p:spPr>
        <p:txBody>
          <a:bodyPr wrap="square" lIns="0" tIns="0" rIns="0" bIns="0" rtlCol="0" anchor="ctr"/>
          <a:lstStyle/>
          <a:p>
            <a:pPr indent="0" marL="0">
              <a:buNone/>
            </a:pPr>
            <a:r>
              <a:rPr lang="en-US" sz="1700" b="1" dirty="0">
                <a:solidFill>
                  <a:schemeClr val="tx2"/>
                </a:solidFill>
              </a:rPr>
              <a:t>Unclear or non-food photo</a:t>
            </a:r>
            <a:endParaRPr lang="en-US" sz="1700" dirty="0"/>
          </a:p>
        </p:txBody>
      </p:sp>
      <p:sp>
        <p:nvSpPr>
          <p:cNvPr id="7" name="Text 4"/>
          <p:cNvSpPr txBox="1"/>
          <p:nvPr/>
        </p:nvSpPr>
        <p:spPr>
          <a:xfrm>
            <a:off x="548640" y="5468112"/>
            <a:ext cx="5394960" cy="731520"/>
          </a:xfrm>
          <a:prstGeom prst="rect">
            <a:avLst/>
          </a:prstGeom>
          <a:noFill/>
          <a:ln/>
        </p:spPr>
        <p:txBody>
          <a:bodyPr wrap="square" lIns="0" tIns="0" rIns="0" bIns="0" rtlCol="0" anchor="t"/>
          <a:lstStyle/>
          <a:p>
            <a:pPr indent="0" marL="0">
              <a:buNone/>
            </a:pPr>
            <a:r>
              <a:rPr lang="en-US" sz="1400" dirty="0">
                <a:solidFill>
                  <a:srgbClr val="4A5650"/>
                </a:solidFill>
              </a:rPr>
              <a:t>“Photo check” badge, no nutrition cards, goal tabs or legend — just a request for a clearer photo.</a:t>
            </a:r>
            <a:endParaRPr lang="en-US" sz="1400" dirty="0"/>
          </a:p>
        </p:txBody>
      </p:sp>
      <p:sp>
        <p:nvSpPr>
          <p:cNvPr id="8" name="frame-error-strip.png"/>
          <p:cNvSpPr/>
          <p:nvPr/>
        </p:nvSpPr>
        <p:spPr>
          <a:xfrm>
            <a:off x="6263640" y="1508760"/>
            <a:ext cx="5394960" cy="1734338"/>
          </a:xfrm>
          <a:prstGeom prst="roundRect">
            <a:avLst>
              <a:gd name="adj" fmla="val 4218"/>
            </a:avLst>
          </a:prstGeom>
          <a:solidFill>
            <a:schemeClr val="bg1"/>
          </a:solidFill>
          <a:ln w="9525">
            <a:solidFill>
              <a:srgbClr val="DADFD6"/>
            </a:solidFill>
            <a:prstDash val="solid"/>
          </a:ln>
          <a:effectLst>
            <a:outerShdw sx="100000" sy="100000" kx="0" ky="0" algn="bl" rotWithShape="0" blurRad="177800" dist="38100" dir="5400000">
              <a:srgbClr val="1C2B24">
                <a:alpha val="16000"/>
              </a:srgbClr>
            </a:outerShdw>
          </a:effectLst>
        </p:spPr>
      </p:sp>
      <p:pic>
        <p:nvPicPr>
          <p:cNvPr id="9" name="img-error-strip.png" descr="Validation error message">    </p:cNvPr>
          <p:cNvPicPr>
            <a:picLocks noChangeAspect="1"/>
          </p:cNvPicPr>
          <p:nvPr/>
        </p:nvPicPr>
        <p:blipFill>
          <a:blip r:embed="rId2"/>
          <a:stretch>
            <a:fillRect/>
          </a:stretch>
        </p:blipFill>
        <p:spPr>
          <a:xfrm>
            <a:off x="6336792" y="1581912"/>
            <a:ext cx="5248656" cy="1588034"/>
          </a:xfrm>
          <a:prstGeom prst="rect">
            <a:avLst/>
          </a:prstGeom>
        </p:spPr>
      </p:pic>
      <p:sp>
        <p:nvSpPr>
          <p:cNvPr id="10" name="Text 6"/>
          <p:cNvSpPr txBox="1"/>
          <p:nvPr/>
        </p:nvSpPr>
        <p:spPr>
          <a:xfrm>
            <a:off x="6263640" y="3471698"/>
            <a:ext cx="5394960" cy="365760"/>
          </a:xfrm>
          <a:prstGeom prst="rect">
            <a:avLst/>
          </a:prstGeom>
          <a:noFill/>
          <a:ln/>
        </p:spPr>
        <p:txBody>
          <a:bodyPr wrap="square" lIns="0" tIns="0" rIns="0" bIns="0" rtlCol="0" anchor="ctr"/>
          <a:lstStyle/>
          <a:p>
            <a:pPr indent="0" marL="0">
              <a:buNone/>
            </a:pPr>
            <a:r>
              <a:rPr lang="en-US" sz="1700" b="1" dirty="0">
                <a:solidFill>
                  <a:schemeClr val="tx2"/>
                </a:solidFill>
              </a:rPr>
              <a:t>Rejected upload / provider error</a:t>
            </a:r>
            <a:endParaRPr lang="en-US" sz="1700" dirty="0"/>
          </a:p>
        </p:txBody>
      </p:sp>
      <p:sp>
        <p:nvSpPr>
          <p:cNvPr id="11" name="Text 7"/>
          <p:cNvSpPr txBox="1"/>
          <p:nvPr/>
        </p:nvSpPr>
        <p:spPr>
          <a:xfrm>
            <a:off x="6263640" y="3928898"/>
            <a:ext cx="5394960" cy="201168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chemeClr val="tx1"/>
                </a:solidFill>
              </a:rPr>
              <a:t>Typed error codes with safe, generic messages</a:t>
            </a:r>
            <a:endParaRPr lang="en-US" sz="1400" dirty="0"/>
          </a:p>
          <a:p>
            <a:pPr marL="203200" indent="-203200">
              <a:spcAft>
                <a:spcPts val="1000"/>
              </a:spcAft>
              <a:buSzPct val="100000"/>
              <a:buChar char="•"/>
            </a:pPr>
            <a:r>
              <a:rPr lang="en-US" sz="1400" dirty="0">
                <a:solidFill>
                  <a:schemeClr val="tx1"/>
                </a:solidFill>
              </a:rPr>
              <a:t>Clear messages for 429 quota, 503 and 504 timeouts</a:t>
            </a:r>
            <a:endParaRPr lang="en-US" sz="1400" dirty="0"/>
          </a:p>
          <a:p>
            <a:pPr marL="203200" indent="-203200">
              <a:spcAft>
                <a:spcPts val="1000"/>
              </a:spcAft>
              <a:buSzPct val="100000"/>
              <a:buChar char="•"/>
            </a:pPr>
            <a:r>
              <a:rPr lang="en-US" sz="1400" dirty="0">
                <a:solidFill>
                  <a:schemeClr val="tx1"/>
                </a:solidFill>
              </a:rPr>
              <a:t>No automatic retries — the user retries deliberately</a:t>
            </a:r>
            <a:endParaRPr lang="en-US" sz="1400" dirty="0"/>
          </a:p>
          <a:p>
            <a:pPr marL="203200" indent="-203200">
              <a:spcAft>
                <a:spcPts val="1000"/>
              </a:spcAft>
              <a:buSzPct val="100000"/>
              <a:buChar char="•"/>
            </a:pPr>
            <a:r>
              <a:rPr lang="en-US" sz="1400" dirty="0">
                <a:solidFill>
                  <a:schemeClr val="tx1"/>
                </a:solidFill>
              </a:rPr>
              <a:t>Invalid model JSON → AI_INVALID_RESPONSE, never “repaired”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09 · RESPONSIVE &amp; CAMERA</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Works on a phone, with camera capture</a:t>
            </a:r>
            <a:endParaRPr lang="en-US" sz="3400" dirty="0"/>
          </a:p>
        </p:txBody>
      </p:sp>
      <p:sp>
        <p:nvSpPr>
          <p:cNvPr id="4" name="frame-mobile-a.png"/>
          <p:cNvSpPr/>
          <p:nvPr/>
        </p:nvSpPr>
        <p:spPr>
          <a:xfrm>
            <a:off x="609657" y="1417320"/>
            <a:ext cx="2438287" cy="4572000"/>
          </a:xfrm>
          <a:prstGeom prst="roundRect">
            <a:avLst>
              <a:gd name="adj" fmla="val 3000"/>
            </a:avLst>
          </a:prstGeom>
          <a:solidFill>
            <a:schemeClr val="bg1"/>
          </a:solidFill>
          <a:ln w="9525">
            <a:solidFill>
              <a:srgbClr val="DADFD6"/>
            </a:solidFill>
            <a:prstDash val="solid"/>
          </a:ln>
          <a:effectLst>
            <a:outerShdw sx="100000" sy="100000" kx="0" ky="0" algn="bl" rotWithShape="0" blurRad="177800" dist="38100" dir="5400000">
              <a:srgbClr val="1C2B24">
                <a:alpha val="16000"/>
              </a:srgbClr>
            </a:outerShdw>
          </a:effectLst>
        </p:spPr>
      </p:sp>
      <p:pic>
        <p:nvPicPr>
          <p:cNvPr id="5" name="img-mobile-a.png" descr="Mobile result summary and goal tabs">    </p:cNvPr>
          <p:cNvPicPr>
            <a:picLocks noChangeAspect="1"/>
          </p:cNvPicPr>
          <p:nvPr/>
        </p:nvPicPr>
        <p:blipFill>
          <a:blip r:embed="rId1"/>
          <a:stretch>
            <a:fillRect/>
          </a:stretch>
        </p:blipFill>
        <p:spPr>
          <a:xfrm>
            <a:off x="682809" y="1490472"/>
            <a:ext cx="2291983" cy="4425696"/>
          </a:xfrm>
          <a:prstGeom prst="rect">
            <a:avLst/>
          </a:prstGeom>
        </p:spPr>
      </p:pic>
      <p:sp>
        <p:nvSpPr>
          <p:cNvPr id="6" name="frame-mobile-b.png"/>
          <p:cNvSpPr/>
          <p:nvPr/>
        </p:nvSpPr>
        <p:spPr>
          <a:xfrm>
            <a:off x="3468820" y="1417320"/>
            <a:ext cx="2206360" cy="4572000"/>
          </a:xfrm>
          <a:prstGeom prst="roundRect">
            <a:avLst>
              <a:gd name="adj" fmla="val 3316"/>
            </a:avLst>
          </a:prstGeom>
          <a:solidFill>
            <a:schemeClr val="bg1"/>
          </a:solidFill>
          <a:ln w="9525">
            <a:solidFill>
              <a:srgbClr val="DADFD6"/>
            </a:solidFill>
            <a:prstDash val="solid"/>
          </a:ln>
          <a:effectLst>
            <a:outerShdw sx="100000" sy="100000" kx="0" ky="0" algn="bl" rotWithShape="0" blurRad="177800" dist="38100" dir="5400000">
              <a:srgbClr val="1C2B24">
                <a:alpha val="16000"/>
              </a:srgbClr>
            </a:outerShdw>
          </a:effectLst>
        </p:spPr>
      </p:sp>
      <p:pic>
        <p:nvPicPr>
          <p:cNvPr id="7" name="img-mobile-b.png" descr="Mobile nutrition cards">    </p:cNvPr>
          <p:cNvPicPr>
            <a:picLocks noChangeAspect="1"/>
          </p:cNvPicPr>
          <p:nvPr/>
        </p:nvPicPr>
        <p:blipFill>
          <a:blip r:embed="rId2"/>
          <a:stretch>
            <a:fillRect/>
          </a:stretch>
        </p:blipFill>
        <p:spPr>
          <a:xfrm>
            <a:off x="3541972" y="1490472"/>
            <a:ext cx="2060056" cy="4425696"/>
          </a:xfrm>
          <a:prstGeom prst="rect">
            <a:avLst/>
          </a:prstGeom>
        </p:spPr>
      </p:pic>
      <p:sp>
        <p:nvSpPr>
          <p:cNvPr id="8" name="Text 4"/>
          <p:cNvSpPr txBox="1"/>
          <p:nvPr/>
        </p:nvSpPr>
        <p:spPr>
          <a:xfrm>
            <a:off x="548640" y="6053328"/>
            <a:ext cx="5120640" cy="274320"/>
          </a:xfrm>
          <a:prstGeom prst="rect">
            <a:avLst/>
          </a:prstGeom>
          <a:noFill/>
          <a:ln/>
        </p:spPr>
        <p:txBody>
          <a:bodyPr wrap="square" lIns="0" tIns="0" rIns="0" bIns="0" rtlCol="0" anchor="ctr"/>
          <a:lstStyle/>
          <a:p>
            <a:pPr indent="0" marL="0">
              <a:buNone/>
            </a:pPr>
            <a:r>
              <a:rPr lang="en-US" sz="1000" i="1" dirty="0">
                <a:solidFill>
                  <a:srgbClr val="5F6B64"/>
                </a:solidFill>
              </a:rPr>
              <a:t>390 px viewport · sample response</a:t>
            </a:r>
            <a:endParaRPr lang="en-US" sz="1000" dirty="0"/>
          </a:p>
        </p:txBody>
      </p:sp>
      <p:sp>
        <p:nvSpPr>
          <p:cNvPr id="9" name="Text 5"/>
          <p:cNvSpPr txBox="1"/>
          <p:nvPr/>
        </p:nvSpPr>
        <p:spPr>
          <a:xfrm>
            <a:off x="6263640" y="1554480"/>
            <a:ext cx="5394960" cy="4572000"/>
          </a:xfrm>
          <a:prstGeom prst="rect">
            <a:avLst/>
          </a:prstGeom>
          <a:noFill/>
          <a:ln/>
        </p:spPr>
        <p:txBody>
          <a:bodyPr wrap="square" lIns="0" tIns="0" rIns="0" bIns="0" rtlCol="0" anchor="t"/>
          <a:lstStyle/>
          <a:p>
            <a:pPr marL="203200" indent="-203200">
              <a:spcAft>
                <a:spcPts val="1000"/>
              </a:spcAft>
              <a:buSzPct val="100000"/>
              <a:buChar char="•"/>
            </a:pPr>
            <a:r>
              <a:rPr lang="en-US" sz="1500" b="1" dirty="0">
                <a:solidFill>
                  <a:schemeClr val="tx1"/>
                </a:solidFill>
              </a:rPr>
              <a:t>Goal tabs stack vertically </a:t>
            </a:r>
            <a:pPr indent="0" marL="0">
              <a:spcAft>
                <a:spcPts val="1000"/>
              </a:spcAft>
              <a:buNone/>
            </a:pPr>
            <a:r>
              <a:rPr lang="en-US" sz="1500" dirty="0">
                <a:solidFill>
                  <a:schemeClr val="tx1"/>
                </a:solidFill>
              </a:rPr>
              <a:t>on narrow phones instead of wrapping 2-and-1.</a:t>
            </a:r>
            <a:endParaRPr lang="en-US" sz="1500" dirty="0"/>
          </a:p>
          <a:p>
            <a:pPr marL="203200" indent="-203200">
              <a:spcAft>
                <a:spcPts val="1000"/>
              </a:spcAft>
              <a:buSzPct val="100000"/>
              <a:buChar char="•"/>
            </a:pPr>
            <a:r>
              <a:rPr lang="en-US" sz="1500" b="1" dirty="0">
                <a:solidFill>
                  <a:schemeClr val="tx1"/>
                </a:solidFill>
              </a:rPr>
              <a:t>Single-column cards </a:t>
            </a:r>
            <a:pPr indent="0" marL="0">
              <a:spcAft>
                <a:spcPts val="1000"/>
              </a:spcAft>
              <a:buNone/>
            </a:pPr>
            <a:r>
              <a:rPr lang="en-US" sz="1500" dirty="0">
                <a:solidFill>
                  <a:schemeClr val="tx1"/>
                </a:solidFill>
              </a:rPr>
              <a:t>below 480 px; full results scroll naturally with a sticky summary.</a:t>
            </a:r>
            <a:endParaRPr lang="en-US" sz="1500" dirty="0"/>
          </a:p>
          <a:p>
            <a:pPr marL="203200" indent="-203200">
              <a:spcAft>
                <a:spcPts val="1000"/>
              </a:spcAft>
              <a:buSzPct val="100000"/>
              <a:buChar char="•"/>
            </a:pPr>
            <a:r>
              <a:rPr lang="en-US" sz="1500" b="1" dirty="0">
                <a:solidFill>
                  <a:schemeClr val="tx1"/>
                </a:solidFill>
              </a:rPr>
              <a:t>Take a photo: </a:t>
            </a:r>
            <a:pPr indent="0" marL="0">
              <a:spcAft>
                <a:spcPts val="1000"/>
              </a:spcAft>
              <a:buNone/>
            </a:pPr>
            <a:r>
              <a:rPr lang="en-US" sz="1500" dirty="0">
                <a:solidFill>
                  <a:schemeClr val="tx1"/>
                </a:solidFill>
              </a:rPr>
              <a:t>in-memory JPEG (long edge ≤ 1600 px), same 5 MiB check; camera always released.</a:t>
            </a:r>
            <a:endParaRPr lang="en-US" sz="1500" dirty="0"/>
          </a:p>
          <a:p>
            <a:pPr marL="203200" indent="-203200">
              <a:spcAft>
                <a:spcPts val="1000"/>
              </a:spcAft>
              <a:buSzPct val="100000"/>
              <a:buChar char="•"/>
            </a:pPr>
            <a:r>
              <a:rPr lang="en-US" sz="1500" b="1" dirty="0">
                <a:solidFill>
                  <a:schemeClr val="tx1"/>
                </a:solidFill>
              </a:rPr>
              <a:t>Fallback: </a:t>
            </a:r>
            <a:pPr indent="0" marL="0">
              <a:spcAft>
                <a:spcPts val="1000"/>
              </a:spcAft>
              <a:buNone/>
            </a:pPr>
            <a:r>
              <a:rPr lang="en-US" sz="1500" dirty="0">
                <a:solidFill>
                  <a:schemeClr val="tx1"/>
                </a:solidFill>
              </a:rPr>
              <a:t>unsupported browsers or denied permission keep the file picker.</a:t>
            </a:r>
            <a:endParaRPr lang="en-US" sz="1500" dirty="0"/>
          </a:p>
          <a:p>
            <a:pPr marL="203200" indent="-203200">
              <a:spcAft>
                <a:spcPts val="1000"/>
              </a:spcAft>
              <a:buSzPct val="100000"/>
              <a:buChar char="•"/>
            </a:pPr>
            <a:r>
              <a:rPr lang="en-US" sz="1500" b="1" dirty="0">
                <a:solidFill>
                  <a:schemeClr val="tx1"/>
                </a:solidFill>
              </a:rPr>
              <a:t>Still to verify: </a:t>
            </a:r>
            <a:pPr indent="0" marL="0">
              <a:spcAft>
                <a:spcPts val="1000"/>
              </a:spcAft>
              <a:buNone/>
            </a:pPr>
            <a:r>
              <a:rPr lang="en-US" sz="1500" dirty="0">
                <a:solidFill>
                  <a:schemeClr val="tx1"/>
                </a:solidFill>
              </a:rPr>
              <a:t>real-phone testing — and the cards currently overflow the right edge at 390 px.</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10 · ARCHITECTURE</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A lean path: browser → Go → Ollama Cloud</a:t>
            </a:r>
            <a:endParaRPr lang="en-US" sz="3400" dirty="0"/>
          </a:p>
        </p:txBody>
      </p:sp>
      <p:sp>
        <p:nvSpPr>
          <p:cNvPr id="4" name="node-React UI"/>
          <p:cNvSpPr/>
          <p:nvPr/>
        </p:nvSpPr>
        <p:spPr>
          <a:xfrm>
            <a:off x="548640" y="1691640"/>
            <a:ext cx="2377440" cy="1417320"/>
          </a:xfrm>
          <a:prstGeom prst="roundRect">
            <a:avLst>
              <a:gd name="adj" fmla="val 7742"/>
            </a:avLst>
          </a:prstGeom>
          <a:solidFill>
            <a:schemeClr val="accent3"/>
          </a:solidFill>
          <a:ln w="12700">
            <a:solidFill>
              <a:srgbClr val="C9D3C5"/>
            </a:solidFill>
            <a:prstDash val="solid"/>
          </a:ln>
          <a:effectLst>
            <a:outerShdw sx="100000" sy="100000" kx="0" ky="0" algn="bl" rotWithShape="0" blurRad="177800" dist="38100" dir="5400000">
              <a:srgbClr val="1C2B24">
                <a:alpha val="16000"/>
              </a:srgbClr>
            </a:outerShdw>
          </a:effectLst>
        </p:spPr>
      </p:sp>
      <p:sp>
        <p:nvSpPr>
          <p:cNvPr id="5" name="Text 3"/>
          <p:cNvSpPr txBox="1"/>
          <p:nvPr/>
        </p:nvSpPr>
        <p:spPr>
          <a:xfrm>
            <a:off x="685800" y="1856232"/>
            <a:ext cx="2103120" cy="41148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React UI</a:t>
            </a:r>
            <a:endParaRPr lang="en-US" sz="1800" dirty="0"/>
          </a:p>
        </p:txBody>
      </p:sp>
      <p:sp>
        <p:nvSpPr>
          <p:cNvPr id="6" name="Text 4"/>
          <p:cNvSpPr txBox="1"/>
          <p:nvPr/>
        </p:nvSpPr>
        <p:spPr>
          <a:xfrm>
            <a:off x="685800" y="2331720"/>
            <a:ext cx="2103120" cy="640080"/>
          </a:xfrm>
          <a:prstGeom prst="rect">
            <a:avLst/>
          </a:prstGeom>
          <a:noFill/>
          <a:ln/>
        </p:spPr>
        <p:txBody>
          <a:bodyPr wrap="square" lIns="0" tIns="0" rIns="0" bIns="0" rtlCol="0" anchor="t"/>
          <a:lstStyle/>
          <a:p>
            <a:pPr algn="ctr" indent="0" marL="0">
              <a:buNone/>
            </a:pPr>
            <a:r>
              <a:rPr lang="en-US" sz="1300" dirty="0">
                <a:solidFill>
                  <a:schemeClr val="tx2"/>
                </a:solidFill>
              </a:rPr>
              <a:t>Preview, results and</a:t>
            </a:r>
            <a:endParaRPr lang="en-US" sz="1300" dirty="0"/>
          </a:p>
          <a:p>
            <a:pPr algn="ctr" indent="0" marL="0">
              <a:buNone/>
            </a:pPr>
            <a:r>
              <a:rPr lang="en-US" sz="1300" dirty="0">
                <a:solidFill>
                  <a:schemeClr val="tx2"/>
                </a:solidFill>
              </a:rPr>
              <a:t>goal comparisons</a:t>
            </a:r>
            <a:endParaRPr lang="en-US" sz="1300" dirty="0"/>
          </a:p>
        </p:txBody>
      </p:sp>
      <p:sp>
        <p:nvSpPr>
          <p:cNvPr id="7" name="arrow-0"/>
          <p:cNvSpPr/>
          <p:nvPr/>
        </p:nvSpPr>
        <p:spPr>
          <a:xfrm>
            <a:off x="3017520" y="2244852"/>
            <a:ext cx="320040" cy="310896"/>
          </a:xfrm>
          <a:prstGeom prst="rightArrow">
            <a:avLst/>
          </a:prstGeom>
          <a:solidFill>
            <a:schemeClr val="accent2"/>
          </a:solidFill>
          <a:ln w="12700">
            <a:solidFill>
              <a:schemeClr val="accent2"/>
            </a:solidFill>
            <a:prstDash val="solid"/>
          </a:ln>
        </p:spPr>
      </p:sp>
      <p:sp>
        <p:nvSpPr>
          <p:cNvPr id="8" name="node-Go upload check"/>
          <p:cNvSpPr/>
          <p:nvPr/>
        </p:nvSpPr>
        <p:spPr>
          <a:xfrm>
            <a:off x="3429000" y="1691640"/>
            <a:ext cx="2377440" cy="1417320"/>
          </a:xfrm>
          <a:prstGeom prst="roundRect">
            <a:avLst>
              <a:gd name="adj" fmla="val 7742"/>
            </a:avLst>
          </a:prstGeom>
          <a:solidFill>
            <a:schemeClr val="bg1"/>
          </a:solidFill>
          <a:ln w="12700">
            <a:solidFill>
              <a:srgbClr val="C9D3C5"/>
            </a:solidFill>
            <a:prstDash val="solid"/>
          </a:ln>
          <a:effectLst>
            <a:outerShdw sx="100000" sy="100000" kx="0" ky="0" algn="bl" rotWithShape="0" blurRad="177800" dist="38100" dir="5400000">
              <a:srgbClr val="1C2B24">
                <a:alpha val="16000"/>
              </a:srgbClr>
            </a:outerShdw>
          </a:effectLst>
        </p:spPr>
      </p:sp>
      <p:sp>
        <p:nvSpPr>
          <p:cNvPr id="9" name="Text 7"/>
          <p:cNvSpPr txBox="1"/>
          <p:nvPr/>
        </p:nvSpPr>
        <p:spPr>
          <a:xfrm>
            <a:off x="3566160" y="1856232"/>
            <a:ext cx="2103120" cy="41148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Go upload check</a:t>
            </a:r>
            <a:endParaRPr lang="en-US" sz="1800" dirty="0"/>
          </a:p>
        </p:txBody>
      </p:sp>
      <p:sp>
        <p:nvSpPr>
          <p:cNvPr id="10" name="Text 8"/>
          <p:cNvSpPr txBox="1"/>
          <p:nvPr/>
        </p:nvSpPr>
        <p:spPr>
          <a:xfrm>
            <a:off x="3566160" y="2331720"/>
            <a:ext cx="2103120" cy="640080"/>
          </a:xfrm>
          <a:prstGeom prst="rect">
            <a:avLst/>
          </a:prstGeom>
          <a:noFill/>
          <a:ln/>
        </p:spPr>
        <p:txBody>
          <a:bodyPr wrap="square" lIns="0" tIns="0" rIns="0" bIns="0" rtlCol="0" anchor="t"/>
          <a:lstStyle/>
          <a:p>
            <a:pPr algn="ctr" indent="0" marL="0">
              <a:buNone/>
            </a:pPr>
            <a:r>
              <a:rPr lang="en-US" sz="1300" dirty="0">
                <a:solidFill>
                  <a:schemeClr val="tx2"/>
                </a:solidFill>
              </a:rPr>
              <a:t>≤ 5 MiB, magic-byte</a:t>
            </a:r>
            <a:endParaRPr lang="en-US" sz="1300" dirty="0"/>
          </a:p>
          <a:p>
            <a:pPr algn="ctr" indent="0" marL="0">
              <a:buNone/>
            </a:pPr>
            <a:r>
              <a:rPr lang="en-US" sz="1300" dirty="0">
                <a:solidFill>
                  <a:schemeClr val="tx2"/>
                </a:solidFill>
              </a:rPr>
              <a:t>JPEG/PNG/WebP sniffing</a:t>
            </a:r>
            <a:endParaRPr lang="en-US" sz="1300" dirty="0"/>
          </a:p>
        </p:txBody>
      </p:sp>
      <p:sp>
        <p:nvSpPr>
          <p:cNvPr id="11" name="arrow-1"/>
          <p:cNvSpPr/>
          <p:nvPr/>
        </p:nvSpPr>
        <p:spPr>
          <a:xfrm>
            <a:off x="5897880" y="2244852"/>
            <a:ext cx="320040" cy="310896"/>
          </a:xfrm>
          <a:prstGeom prst="rightArrow">
            <a:avLst/>
          </a:prstGeom>
          <a:solidFill>
            <a:schemeClr val="accent2"/>
          </a:solidFill>
          <a:ln w="12700">
            <a:solidFill>
              <a:schemeClr val="accent2"/>
            </a:solidFill>
            <a:prstDash val="solid"/>
          </a:ln>
        </p:spPr>
      </p:sp>
      <p:sp>
        <p:nvSpPr>
          <p:cNvPr id="12" name="node-Ollama Cloud"/>
          <p:cNvSpPr/>
          <p:nvPr/>
        </p:nvSpPr>
        <p:spPr>
          <a:xfrm>
            <a:off x="6309360" y="1691640"/>
            <a:ext cx="2377440" cy="1417320"/>
          </a:xfrm>
          <a:prstGeom prst="roundRect">
            <a:avLst>
              <a:gd name="adj" fmla="val 7742"/>
            </a:avLst>
          </a:prstGeom>
          <a:solidFill>
            <a:schemeClr val="accent1"/>
          </a:solidFill>
          <a:ln w="12700">
            <a:solidFill>
              <a:schemeClr val="accent1"/>
            </a:solidFill>
            <a:prstDash val="solid"/>
          </a:ln>
          <a:effectLst>
            <a:outerShdw sx="100000" sy="100000" kx="0" ky="0" algn="bl" rotWithShape="0" blurRad="177800" dist="38100" dir="5400000">
              <a:srgbClr val="1C2B24">
                <a:alpha val="16000"/>
              </a:srgbClr>
            </a:outerShdw>
          </a:effectLst>
        </p:spPr>
      </p:sp>
      <p:sp>
        <p:nvSpPr>
          <p:cNvPr id="13" name="Text 11"/>
          <p:cNvSpPr txBox="1"/>
          <p:nvPr/>
        </p:nvSpPr>
        <p:spPr>
          <a:xfrm>
            <a:off x="6446520" y="1856232"/>
            <a:ext cx="2103120" cy="41148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Ollama Cloud</a:t>
            </a:r>
            <a:endParaRPr lang="en-US" sz="1800" dirty="0"/>
          </a:p>
        </p:txBody>
      </p:sp>
      <p:sp>
        <p:nvSpPr>
          <p:cNvPr id="14" name="Text 12"/>
          <p:cNvSpPr txBox="1"/>
          <p:nvPr/>
        </p:nvSpPr>
        <p:spPr>
          <a:xfrm>
            <a:off x="6446520" y="2331720"/>
            <a:ext cx="2103120" cy="640080"/>
          </a:xfrm>
          <a:prstGeom prst="rect">
            <a:avLst/>
          </a:prstGeom>
          <a:noFill/>
          <a:ln/>
        </p:spPr>
        <p:txBody>
          <a:bodyPr wrap="square" lIns="0" tIns="0" rIns="0" bIns="0" rtlCol="0" anchor="t"/>
          <a:lstStyle/>
          <a:p>
            <a:pPr algn="ctr" indent="0" marL="0">
              <a:buNone/>
            </a:pPr>
            <a:r>
              <a:rPr lang="en-US" sz="1300" dirty="0">
                <a:solidFill>
                  <a:schemeClr val="bg1"/>
                </a:solidFill>
              </a:rPr>
              <a:t>/api/chat · gemma4:31b</a:t>
            </a:r>
            <a:endParaRPr lang="en-US" sz="1300" dirty="0"/>
          </a:p>
          <a:p>
            <a:pPr algn="ctr" indent="0" marL="0">
              <a:buNone/>
            </a:pPr>
            <a:r>
              <a:rPr lang="en-US" sz="1300" dirty="0">
                <a:solidFill>
                  <a:schemeClr val="bg1"/>
                </a:solidFill>
              </a:rPr>
              <a:t>backend Bearer key</a:t>
            </a:r>
            <a:endParaRPr lang="en-US" sz="1300" dirty="0"/>
          </a:p>
        </p:txBody>
      </p:sp>
      <p:sp>
        <p:nvSpPr>
          <p:cNvPr id="15" name="arrow-2"/>
          <p:cNvSpPr/>
          <p:nvPr/>
        </p:nvSpPr>
        <p:spPr>
          <a:xfrm>
            <a:off x="8778240" y="2244852"/>
            <a:ext cx="320040" cy="310896"/>
          </a:xfrm>
          <a:prstGeom prst="rightArrow">
            <a:avLst/>
          </a:prstGeom>
          <a:solidFill>
            <a:schemeClr val="accent2"/>
          </a:solidFill>
          <a:ln w="12700">
            <a:solidFill>
              <a:schemeClr val="accent2"/>
            </a:solidFill>
            <a:prstDash val="solid"/>
          </a:ln>
        </p:spPr>
      </p:sp>
      <p:sp>
        <p:nvSpPr>
          <p:cNvPr id="16" name="node-Go validator"/>
          <p:cNvSpPr/>
          <p:nvPr/>
        </p:nvSpPr>
        <p:spPr>
          <a:xfrm>
            <a:off x="9189720" y="1691640"/>
            <a:ext cx="2377440" cy="1417320"/>
          </a:xfrm>
          <a:prstGeom prst="roundRect">
            <a:avLst>
              <a:gd name="adj" fmla="val 7742"/>
            </a:avLst>
          </a:prstGeom>
          <a:solidFill>
            <a:schemeClr val="bg1"/>
          </a:solidFill>
          <a:ln w="12700">
            <a:solidFill>
              <a:srgbClr val="C9D3C5"/>
            </a:solidFill>
            <a:prstDash val="solid"/>
          </a:ln>
          <a:effectLst>
            <a:outerShdw sx="100000" sy="100000" kx="0" ky="0" algn="bl" rotWithShape="0" blurRad="177800" dist="38100" dir="5400000">
              <a:srgbClr val="1C2B24">
                <a:alpha val="16000"/>
              </a:srgbClr>
            </a:outerShdw>
          </a:effectLst>
        </p:spPr>
      </p:sp>
      <p:sp>
        <p:nvSpPr>
          <p:cNvPr id="17" name="Text 15"/>
          <p:cNvSpPr txBox="1"/>
          <p:nvPr/>
        </p:nvSpPr>
        <p:spPr>
          <a:xfrm>
            <a:off x="9326880" y="1856232"/>
            <a:ext cx="2103120" cy="41148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Go validator</a:t>
            </a:r>
            <a:endParaRPr lang="en-US" sz="1800" dirty="0"/>
          </a:p>
        </p:txBody>
      </p:sp>
      <p:sp>
        <p:nvSpPr>
          <p:cNvPr id="18" name="Text 16"/>
          <p:cNvSpPr txBox="1"/>
          <p:nvPr/>
        </p:nvSpPr>
        <p:spPr>
          <a:xfrm>
            <a:off x="9326880" y="2331720"/>
            <a:ext cx="2103120" cy="640080"/>
          </a:xfrm>
          <a:prstGeom prst="rect">
            <a:avLst/>
          </a:prstGeom>
          <a:noFill/>
          <a:ln/>
        </p:spPr>
        <p:txBody>
          <a:bodyPr wrap="square" lIns="0" tIns="0" rIns="0" bIns="0" rtlCol="0" anchor="t"/>
          <a:lstStyle/>
          <a:p>
            <a:pPr algn="ctr" indent="0" marL="0">
              <a:buNone/>
            </a:pPr>
            <a:r>
              <a:rPr lang="en-US" sz="1300" dirty="0">
                <a:solidFill>
                  <a:schemeClr val="tx2"/>
                </a:solidFill>
              </a:rPr>
              <a:t>Strict schema &amp; range</a:t>
            </a:r>
            <a:endParaRPr lang="en-US" sz="1300" dirty="0"/>
          </a:p>
          <a:p>
            <a:pPr algn="ctr" indent="0" marL="0">
              <a:buNone/>
            </a:pPr>
            <a:r>
              <a:rPr lang="en-US" sz="1300" dirty="0">
                <a:solidFill>
                  <a:schemeClr val="tx2"/>
                </a:solidFill>
              </a:rPr>
              <a:t>checks on model JSON</a:t>
            </a:r>
            <a:endParaRPr lang="en-US" sz="1300" dirty="0"/>
          </a:p>
        </p:txBody>
      </p:sp>
      <p:sp>
        <p:nvSpPr>
          <p:cNvPr id="19" name="Text 17"/>
          <p:cNvSpPr txBox="1"/>
          <p:nvPr/>
        </p:nvSpPr>
        <p:spPr>
          <a:xfrm>
            <a:off x="548640" y="3218688"/>
            <a:ext cx="11064240" cy="274320"/>
          </a:xfrm>
          <a:prstGeom prst="rect">
            <a:avLst/>
          </a:prstGeom>
          <a:noFill/>
          <a:ln/>
        </p:spPr>
        <p:txBody>
          <a:bodyPr wrap="square" lIns="0" tIns="0" rIns="0" bIns="0" rtlCol="0" anchor="ctr"/>
          <a:lstStyle/>
          <a:p>
            <a:pPr algn="ctr" indent="0" marL="0">
              <a:buNone/>
            </a:pPr>
            <a:r>
              <a:rPr lang="en-US" sz="1100" i="1" dirty="0">
                <a:solidFill>
                  <a:srgbClr val="5F6B64"/>
                </a:solidFill>
              </a:rPr>
              <a:t>multipart image          HTTPS + base64          message.content          safe JSON back to the browser</a:t>
            </a:r>
            <a:endParaRPr lang="en-US" sz="1100" dirty="0"/>
          </a:p>
        </p:txBody>
      </p:sp>
      <p:sp>
        <p:nvSpPr>
          <p:cNvPr id="20" name="card-0.6-4.2"/>
          <p:cNvSpPr/>
          <p:nvPr/>
        </p:nvSpPr>
        <p:spPr>
          <a:xfrm>
            <a:off x="548640" y="3840480"/>
            <a:ext cx="3474720" cy="2286000"/>
          </a:xfrm>
          <a:prstGeom prst="roundRect">
            <a:avLst>
              <a:gd name="adj" fmla="val 4800"/>
            </a:avLst>
          </a:prstGeom>
          <a:solidFill>
            <a:schemeClr val="bg1"/>
          </a:solidFill>
          <a:ln w="9525">
            <a:solidFill>
              <a:srgbClr val="DADFD6"/>
            </a:solidFill>
            <a:prstDash val="solid"/>
          </a:ln>
          <a:effectLst>
            <a:outerShdw sx="100000" sy="100000" kx="0" ky="0" algn="bl" rotWithShape="0" blurRad="177800" dist="38100" dir="5400000">
              <a:srgbClr val="1C2B24">
                <a:alpha val="16000"/>
              </a:srgbClr>
            </a:outerShdw>
          </a:effectLst>
        </p:spPr>
      </p:sp>
      <p:sp>
        <p:nvSpPr>
          <p:cNvPr id="21" name="Text 19"/>
          <p:cNvSpPr txBox="1"/>
          <p:nvPr/>
        </p:nvSpPr>
        <p:spPr>
          <a:xfrm>
            <a:off x="822960" y="4041648"/>
            <a:ext cx="2926080" cy="365760"/>
          </a:xfrm>
          <a:prstGeom prst="rect">
            <a:avLst/>
          </a:prstGeom>
          <a:noFill/>
          <a:ln/>
        </p:spPr>
        <p:txBody>
          <a:bodyPr wrap="square" lIns="0" tIns="0" rIns="0" bIns="0" rtlCol="0" anchor="ctr"/>
          <a:lstStyle/>
          <a:p>
            <a:pPr indent="0" marL="0">
              <a:buNone/>
            </a:pPr>
            <a:r>
              <a:rPr lang="en-US" sz="1700" b="1" dirty="0">
                <a:solidFill>
                  <a:schemeClr val="accent1"/>
                </a:solidFill>
              </a:rPr>
              <a:t>Frontend</a:t>
            </a:r>
            <a:endParaRPr lang="en-US" sz="1700" dirty="0"/>
          </a:p>
        </p:txBody>
      </p:sp>
      <p:sp>
        <p:nvSpPr>
          <p:cNvPr id="22" name="Text 20"/>
          <p:cNvSpPr txBox="1"/>
          <p:nvPr/>
        </p:nvSpPr>
        <p:spPr>
          <a:xfrm>
            <a:off x="822960" y="4526280"/>
            <a:ext cx="3017520" cy="150876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chemeClr val="tx1"/>
                </a:solidFill>
              </a:rPr>
              <a:t>React 18 + TypeScript + Vite</a:t>
            </a:r>
            <a:endParaRPr lang="en-US" sz="1400" dirty="0"/>
          </a:p>
          <a:p>
            <a:pPr marL="203200" indent="-203200">
              <a:spcAft>
                <a:spcPts val="1000"/>
              </a:spcAft>
              <a:buSzPct val="100000"/>
              <a:buChar char="•"/>
            </a:pPr>
            <a:r>
              <a:rPr lang="en-US" sz="1400" dirty="0">
                <a:solidFill>
                  <a:schemeClr val="tx1"/>
                </a:solidFill>
              </a:rPr>
              <a:t>Goal presets and comparisons computed in the browser</a:t>
            </a:r>
            <a:endParaRPr lang="en-US" sz="1400" dirty="0"/>
          </a:p>
          <a:p>
            <a:pPr marL="203200" indent="-203200">
              <a:spcAft>
                <a:spcPts val="1000"/>
              </a:spcAft>
              <a:buSzPct val="100000"/>
              <a:buChar char="•"/>
            </a:pPr>
            <a:r>
              <a:rPr lang="en-US" sz="1400" dirty="0">
                <a:solidFill>
                  <a:schemeClr val="tx1"/>
                </a:solidFill>
              </a:rPr>
              <a:t>Components: NutritionCards, GoalTabs, legend, scanner</a:t>
            </a:r>
            <a:endParaRPr lang="en-US" sz="1400" dirty="0"/>
          </a:p>
        </p:txBody>
      </p:sp>
      <p:sp>
        <p:nvSpPr>
          <p:cNvPr id="23" name="card-4.699999999999999-4.2"/>
          <p:cNvSpPr/>
          <p:nvPr/>
        </p:nvSpPr>
        <p:spPr>
          <a:xfrm>
            <a:off x="4297680" y="3840480"/>
            <a:ext cx="3474720" cy="2286000"/>
          </a:xfrm>
          <a:prstGeom prst="roundRect">
            <a:avLst>
              <a:gd name="adj" fmla="val 4800"/>
            </a:avLst>
          </a:prstGeom>
          <a:solidFill>
            <a:schemeClr val="bg1"/>
          </a:solidFill>
          <a:ln w="9525">
            <a:solidFill>
              <a:srgbClr val="DADFD6"/>
            </a:solidFill>
            <a:prstDash val="solid"/>
          </a:ln>
          <a:effectLst>
            <a:outerShdw sx="100000" sy="100000" kx="0" ky="0" algn="bl" rotWithShape="0" blurRad="177800" dist="38100" dir="5400000">
              <a:srgbClr val="1C2B24">
                <a:alpha val="16000"/>
              </a:srgbClr>
            </a:outerShdw>
          </a:effectLst>
        </p:spPr>
      </p:sp>
      <p:sp>
        <p:nvSpPr>
          <p:cNvPr id="24" name="Text 22"/>
          <p:cNvSpPr txBox="1"/>
          <p:nvPr/>
        </p:nvSpPr>
        <p:spPr>
          <a:xfrm>
            <a:off x="4572000" y="4041648"/>
            <a:ext cx="2926080" cy="365760"/>
          </a:xfrm>
          <a:prstGeom prst="rect">
            <a:avLst/>
          </a:prstGeom>
          <a:noFill/>
          <a:ln/>
        </p:spPr>
        <p:txBody>
          <a:bodyPr wrap="square" lIns="0" tIns="0" rIns="0" bIns="0" rtlCol="0" anchor="ctr"/>
          <a:lstStyle/>
          <a:p>
            <a:pPr indent="0" marL="0">
              <a:buNone/>
            </a:pPr>
            <a:r>
              <a:rPr lang="en-US" sz="1700" b="1" dirty="0">
                <a:solidFill>
                  <a:schemeClr val="accent1"/>
                </a:solidFill>
              </a:rPr>
              <a:t>Backend</a:t>
            </a:r>
            <a:endParaRPr lang="en-US" sz="1700" dirty="0"/>
          </a:p>
        </p:txBody>
      </p:sp>
      <p:sp>
        <p:nvSpPr>
          <p:cNvPr id="25" name="Text 23"/>
          <p:cNvSpPr txBox="1"/>
          <p:nvPr/>
        </p:nvSpPr>
        <p:spPr>
          <a:xfrm>
            <a:off x="4572000" y="4526280"/>
            <a:ext cx="3017520" cy="150876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chemeClr val="tx1"/>
                </a:solidFill>
              </a:rPr>
              <a:t>Go standard library only — no SDKs</a:t>
            </a:r>
            <a:endParaRPr lang="en-US" sz="1400" dirty="0"/>
          </a:p>
          <a:p>
            <a:pPr marL="203200" indent="-203200">
              <a:spcAft>
                <a:spcPts val="1000"/>
              </a:spcAft>
              <a:buSzPct val="100000"/>
              <a:buChar char="•"/>
            </a:pPr>
            <a:r>
              <a:rPr lang="en-US" sz="1400" dirty="0">
                <a:solidFill>
                  <a:schemeClr val="tx1"/>
                </a:solidFill>
              </a:rPr>
              <a:t>Handlers, validation, AI adapter, config</a:t>
            </a:r>
            <a:endParaRPr lang="en-US" sz="1400" dirty="0"/>
          </a:p>
          <a:p>
            <a:pPr marL="203200" indent="-203200">
              <a:spcAft>
                <a:spcPts val="1000"/>
              </a:spcAft>
              <a:buSzPct val="100000"/>
              <a:buChar char="•"/>
            </a:pPr>
            <a:r>
              <a:rPr lang="en-US" sz="1400" dirty="0">
                <a:solidFill>
                  <a:schemeClr val="tx1"/>
                </a:solidFill>
              </a:rPr>
              <a:t>Serves built frontend + API on one origin</a:t>
            </a:r>
            <a:endParaRPr lang="en-US" sz="1400" dirty="0"/>
          </a:p>
        </p:txBody>
      </p:sp>
      <p:sp>
        <p:nvSpPr>
          <p:cNvPr id="26" name="card-8.799999999999999-4.2"/>
          <p:cNvSpPr/>
          <p:nvPr/>
        </p:nvSpPr>
        <p:spPr>
          <a:xfrm>
            <a:off x="8046720" y="3840480"/>
            <a:ext cx="3474720" cy="2286000"/>
          </a:xfrm>
          <a:prstGeom prst="roundRect">
            <a:avLst>
              <a:gd name="adj" fmla="val 4800"/>
            </a:avLst>
          </a:prstGeom>
          <a:solidFill>
            <a:schemeClr val="bg1"/>
          </a:solidFill>
          <a:ln w="9525">
            <a:solidFill>
              <a:srgbClr val="DADFD6"/>
            </a:solidFill>
            <a:prstDash val="solid"/>
          </a:ln>
          <a:effectLst>
            <a:outerShdw sx="100000" sy="100000" kx="0" ky="0" algn="bl" rotWithShape="0" blurRad="177800" dist="38100" dir="5400000">
              <a:srgbClr val="1C2B24">
                <a:alpha val="16000"/>
              </a:srgbClr>
            </a:outerShdw>
          </a:effectLst>
        </p:spPr>
      </p:sp>
      <p:sp>
        <p:nvSpPr>
          <p:cNvPr id="27" name="Text 25"/>
          <p:cNvSpPr txBox="1"/>
          <p:nvPr/>
        </p:nvSpPr>
        <p:spPr>
          <a:xfrm>
            <a:off x="8321040" y="4041648"/>
            <a:ext cx="2926080" cy="365760"/>
          </a:xfrm>
          <a:prstGeom prst="rect">
            <a:avLst/>
          </a:prstGeom>
          <a:noFill/>
          <a:ln/>
        </p:spPr>
        <p:txBody>
          <a:bodyPr wrap="square" lIns="0" tIns="0" rIns="0" bIns="0" rtlCol="0" anchor="ctr"/>
          <a:lstStyle/>
          <a:p>
            <a:pPr indent="0" marL="0">
              <a:buNone/>
            </a:pPr>
            <a:r>
              <a:rPr lang="en-US" sz="1700" b="1" dirty="0">
                <a:solidFill>
                  <a:schemeClr val="accent1"/>
                </a:solidFill>
              </a:rPr>
              <a:t>Timeouts</a:t>
            </a:r>
            <a:endParaRPr lang="en-US" sz="1700" dirty="0"/>
          </a:p>
        </p:txBody>
      </p:sp>
      <p:sp>
        <p:nvSpPr>
          <p:cNvPr id="28" name="Text 26"/>
          <p:cNvSpPr txBox="1"/>
          <p:nvPr/>
        </p:nvSpPr>
        <p:spPr>
          <a:xfrm>
            <a:off x="8321040" y="4526280"/>
            <a:ext cx="3017520" cy="150876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chemeClr val="tx1"/>
                </a:solidFill>
              </a:rPr>
              <a:t>120 s provider inference</a:t>
            </a:r>
            <a:endParaRPr lang="en-US" sz="1400" dirty="0"/>
          </a:p>
          <a:p>
            <a:pPr marL="203200" indent="-203200">
              <a:spcAft>
                <a:spcPts val="1000"/>
              </a:spcAft>
              <a:buSzPct val="100000"/>
              <a:buChar char="•"/>
            </a:pPr>
            <a:r>
              <a:rPr lang="en-US" sz="1400" dirty="0">
                <a:solidFill>
                  <a:schemeClr val="tx1"/>
                </a:solidFill>
              </a:rPr>
              <a:t>135 s server · 200 s write</a:t>
            </a:r>
            <a:endParaRPr lang="en-US" sz="1400" dirty="0"/>
          </a:p>
          <a:p>
            <a:pPr marL="203200" indent="-203200">
              <a:spcAft>
                <a:spcPts val="1000"/>
              </a:spcAft>
              <a:buSzPct val="100000"/>
              <a:buChar char="•"/>
            </a:pPr>
            <a:r>
              <a:rPr lang="en-US" sz="1400" dirty="0">
                <a:solidFill>
                  <a:schemeClr val="tx1"/>
                </a:solidFill>
              </a:rPr>
              <a:t>210 s browser abort, no auto-retry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11 · AI ENGINEERING</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Prompt-only JSON, verified by Go</a:t>
            </a:r>
            <a:endParaRPr lang="en-US" sz="3400" dirty="0"/>
          </a:p>
        </p:txBody>
      </p:sp>
      <p:pic>
        <p:nvPicPr>
          <p:cNvPr id="4" name="img-c-prompt.png" descr="System prompt in prompt.go">    </p:cNvPr>
          <p:cNvPicPr>
            <a:picLocks noChangeAspect="1"/>
          </p:cNvPicPr>
          <p:nvPr/>
        </p:nvPicPr>
        <p:blipFill>
          <a:blip r:embed="rId1"/>
          <a:stretch>
            <a:fillRect/>
          </a:stretch>
        </p:blipFill>
        <p:spPr>
          <a:xfrm>
            <a:off x="548640" y="1729047"/>
            <a:ext cx="6400800" cy="3491345"/>
          </a:xfrm>
          <a:prstGeom prst="rect">
            <a:avLst/>
          </a:prstGeom>
        </p:spPr>
      </p:pic>
      <p:sp>
        <p:nvSpPr>
          <p:cNvPr id="5" name="Text 2"/>
          <p:cNvSpPr txBox="1"/>
          <p:nvPr/>
        </p:nvSpPr>
        <p:spPr>
          <a:xfrm>
            <a:off x="548640" y="5311833"/>
            <a:ext cx="6400800" cy="274320"/>
          </a:xfrm>
          <a:prstGeom prst="rect">
            <a:avLst/>
          </a:prstGeom>
          <a:noFill/>
          <a:ln/>
        </p:spPr>
        <p:txBody>
          <a:bodyPr wrap="square" lIns="0" tIns="0" rIns="0" bIns="0" rtlCol="0" anchor="ctr"/>
          <a:lstStyle/>
          <a:p>
            <a:pPr indent="0" marL="0">
              <a:buNone/>
            </a:pPr>
            <a:r>
              <a:rPr lang="en-US" sz="1000" i="1" dirty="0">
                <a:solidFill>
                  <a:srgbClr val="5F6B64"/>
                </a:solidFill>
              </a:rPr>
              <a:t>backend/internal/ai/prompt.go — versioned system prompt (excerpt)</a:t>
            </a:r>
            <a:endParaRPr lang="en-US" sz="1000" dirty="0"/>
          </a:p>
        </p:txBody>
      </p:sp>
      <p:sp>
        <p:nvSpPr>
          <p:cNvPr id="6" name="Text 3"/>
          <p:cNvSpPr txBox="1"/>
          <p:nvPr/>
        </p:nvSpPr>
        <p:spPr>
          <a:xfrm>
            <a:off x="7269480" y="1508760"/>
            <a:ext cx="4389120" cy="4754880"/>
          </a:xfrm>
          <a:prstGeom prst="rect">
            <a:avLst/>
          </a:prstGeom>
          <a:noFill/>
          <a:ln/>
        </p:spPr>
        <p:txBody>
          <a:bodyPr wrap="square" lIns="0" tIns="0" rIns="0" bIns="0" rtlCol="0" anchor="t"/>
          <a:lstStyle/>
          <a:p>
            <a:pPr marL="203200" indent="-203200">
              <a:spcAft>
                <a:spcPts val="1000"/>
              </a:spcAft>
              <a:buSzPct val="100000"/>
              <a:buChar char="•"/>
            </a:pPr>
            <a:r>
              <a:rPr lang="en-US" sz="1400" b="1" dirty="0">
                <a:solidFill>
                  <a:schemeClr val="tx1"/>
                </a:solidFill>
              </a:rPr>
              <a:t>Constraint: </a:t>
            </a:r>
            <a:pPr indent="0" marL="0">
              <a:spcAft>
                <a:spcPts val="1000"/>
              </a:spcAft>
              <a:buNone/>
            </a:pPr>
            <a:r>
              <a:rPr lang="en-US" sz="1400" dirty="0">
                <a:solidFill>
                  <a:schemeClr val="tx1"/>
                </a:solidFill>
              </a:rPr>
              <a:t>Ollama Cloud documents structured outputs as unsupported, so JSON is requested in the prompt.</a:t>
            </a:r>
            <a:endParaRPr lang="en-US" sz="1400" dirty="0"/>
          </a:p>
          <a:p>
            <a:pPr marL="203200" indent="-203200">
              <a:spcAft>
                <a:spcPts val="1000"/>
              </a:spcAft>
              <a:buSzPct val="100000"/>
              <a:buChar char="•"/>
            </a:pPr>
            <a:r>
              <a:rPr lang="en-US" sz="1400" b="1" dirty="0">
                <a:solidFill>
                  <a:schemeClr val="tx1"/>
                </a:solidFill>
              </a:rPr>
              <a:t>Prompt rules: </a:t>
            </a:r>
            <a:pPr indent="0" marL="0">
              <a:spcAft>
                <a:spcPts val="1000"/>
              </a:spcAft>
              <a:buNone/>
            </a:pPr>
            <a:r>
              <a:rPr lang="en-US" sz="1400" dirty="0">
                <a:solidFill>
                  <a:schemeClr val="tx1"/>
                </a:solidFill>
              </a:rPr>
              <a:t>full JSON templates, ranges only, null for unknown, ignore text inside the image.</a:t>
            </a:r>
            <a:endParaRPr lang="en-US" sz="1400" dirty="0"/>
          </a:p>
          <a:p>
            <a:pPr marL="203200" indent="-203200">
              <a:spcAft>
                <a:spcPts val="1000"/>
              </a:spcAft>
              <a:buSzPct val="100000"/>
              <a:buChar char="•"/>
            </a:pPr>
            <a:r>
              <a:rPr lang="en-US" sz="1400" b="1" dirty="0">
                <a:solidFill>
                  <a:schemeClr val="tx1"/>
                </a:solidFill>
              </a:rPr>
              <a:t>Go validation: </a:t>
            </a:r>
            <a:pPr indent="0" marL="0">
              <a:spcAft>
                <a:spcPts val="1000"/>
              </a:spcAft>
              <a:buNone/>
            </a:pPr>
            <a:r>
              <a:rPr lang="en-US" sz="1400" dirty="0">
                <a:solidFill>
                  <a:schemeClr val="tx1"/>
                </a:solidFill>
              </a:rPr>
              <a:t>required fields, enums, finite min ≤ max, length limits.</a:t>
            </a:r>
            <a:endParaRPr lang="en-US" sz="1400" dirty="0"/>
          </a:p>
          <a:p>
            <a:pPr marL="203200" indent="-203200">
              <a:spcAft>
                <a:spcPts val="1000"/>
              </a:spcAft>
              <a:buSzPct val="100000"/>
              <a:buChar char="•"/>
            </a:pPr>
            <a:r>
              <a:rPr lang="en-US" sz="1400" b="1" dirty="0">
                <a:solidFill>
                  <a:schemeClr val="tx1"/>
                </a:solidFill>
              </a:rPr>
              <a:t>Safe failure: </a:t>
            </a:r>
            <a:pPr indent="0" marL="0">
              <a:spcAft>
                <a:spcPts val="1000"/>
              </a:spcAft>
              <a:buNone/>
            </a:pPr>
            <a:r>
              <a:rPr lang="en-US" sz="1400" dirty="0">
                <a:solidFill>
                  <a:schemeClr val="tx1"/>
                </a:solidFill>
              </a:rPr>
              <a:t>bad output returns AI_INVALID_RESPONSE — no extra paid calls.</a:t>
            </a:r>
            <a:endParaRPr lang="en-US" sz="1400" dirty="0"/>
          </a:p>
          <a:p>
            <a:pPr marL="203200" indent="-203200">
              <a:spcAft>
                <a:spcPts val="1000"/>
              </a:spcAft>
              <a:buSzPct val="100000"/>
              <a:buChar char="•"/>
            </a:pPr>
            <a:r>
              <a:rPr lang="en-US" sz="1400" b="1" dirty="0">
                <a:solidFill>
                  <a:schemeClr val="tx1"/>
                </a:solidFill>
              </a:rPr>
              <a:t>AI-assisted build: </a:t>
            </a:r>
            <a:pPr indent="0" marL="0">
              <a:spcAft>
                <a:spcPts val="1000"/>
              </a:spcAft>
              <a:buNone/>
            </a:pPr>
            <a:r>
              <a:rPr lang="en-US" sz="1400" dirty="0">
                <a:solidFill>
                  <a:schemeClr val="tx1"/>
                </a:solidFill>
              </a:rPr>
              <a:t>AGENTS.md, the food-image-analysis skill and docs/prompt-history.md guided the coding agents.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12 · TESTING</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All automated checks pass</a:t>
            </a:r>
            <a:endParaRPr lang="en-US" sz="3400" dirty="0"/>
          </a:p>
        </p:txBody>
      </p:sp>
      <p:sp>
        <p:nvSpPr>
          <p:cNvPr id="4" name="Text 2"/>
          <p:cNvSpPr txBox="1"/>
          <p:nvPr/>
        </p:nvSpPr>
        <p:spPr>
          <a:xfrm>
            <a:off x="548640" y="1463040"/>
            <a:ext cx="1737360" cy="91440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61</a:t>
            </a:r>
            <a:endParaRPr lang="en-US" sz="6000" dirty="0"/>
          </a:p>
        </p:txBody>
      </p:sp>
      <p:sp>
        <p:nvSpPr>
          <p:cNvPr id="5" name="Text 3"/>
          <p:cNvSpPr txBox="1"/>
          <p:nvPr/>
        </p:nvSpPr>
        <p:spPr>
          <a:xfrm>
            <a:off x="548640" y="2377440"/>
            <a:ext cx="1783080" cy="640080"/>
          </a:xfrm>
          <a:prstGeom prst="rect">
            <a:avLst/>
          </a:prstGeom>
          <a:noFill/>
          <a:ln/>
        </p:spPr>
        <p:txBody>
          <a:bodyPr wrap="square" lIns="0" tIns="0" rIns="0" bIns="0" rtlCol="0" anchor="t"/>
          <a:lstStyle/>
          <a:p>
            <a:pPr indent="0" marL="0">
              <a:buNone/>
            </a:pPr>
            <a:r>
              <a:rPr lang="en-US" sz="1200" dirty="0">
                <a:solidFill>
                  <a:srgbClr val="4A5650"/>
                </a:solidFill>
              </a:rPr>
              <a:t>frontend tests</a:t>
            </a:r>
            <a:endParaRPr lang="en-US" sz="1200" dirty="0"/>
          </a:p>
          <a:p>
            <a:pPr indent="0" marL="0">
              <a:buNone/>
            </a:pPr>
            <a:r>
              <a:rPr lang="en-US" sz="1200" dirty="0">
                <a:solidFill>
                  <a:srgbClr val="4A5650"/>
                </a:solidFill>
              </a:rPr>
              <a:t>passing</a:t>
            </a:r>
            <a:endParaRPr lang="en-US" sz="1200" dirty="0"/>
          </a:p>
        </p:txBody>
      </p:sp>
      <p:sp>
        <p:nvSpPr>
          <p:cNvPr id="6" name="Text 4"/>
          <p:cNvSpPr txBox="1"/>
          <p:nvPr/>
        </p:nvSpPr>
        <p:spPr>
          <a:xfrm>
            <a:off x="2423160" y="1463040"/>
            <a:ext cx="1737360" cy="91440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6</a:t>
            </a:r>
            <a:endParaRPr lang="en-US" sz="6000" dirty="0"/>
          </a:p>
        </p:txBody>
      </p:sp>
      <p:sp>
        <p:nvSpPr>
          <p:cNvPr id="7" name="Text 5"/>
          <p:cNvSpPr txBox="1"/>
          <p:nvPr/>
        </p:nvSpPr>
        <p:spPr>
          <a:xfrm>
            <a:off x="2423160" y="2377440"/>
            <a:ext cx="1783080" cy="640080"/>
          </a:xfrm>
          <a:prstGeom prst="rect">
            <a:avLst/>
          </a:prstGeom>
          <a:noFill/>
          <a:ln/>
        </p:spPr>
        <p:txBody>
          <a:bodyPr wrap="square" lIns="0" tIns="0" rIns="0" bIns="0" rtlCol="0" anchor="t"/>
          <a:lstStyle/>
          <a:p>
            <a:pPr indent="0" marL="0">
              <a:buNone/>
            </a:pPr>
            <a:r>
              <a:rPr lang="en-US" sz="1200" dirty="0">
                <a:solidFill>
                  <a:srgbClr val="4A5650"/>
                </a:solidFill>
              </a:rPr>
              <a:t>Vitest suites,</a:t>
            </a:r>
            <a:endParaRPr lang="en-US" sz="1200" dirty="0"/>
          </a:p>
          <a:p>
            <a:pPr indent="0" marL="0">
              <a:buNone/>
            </a:pPr>
            <a:r>
              <a:rPr lang="en-US" sz="1200" dirty="0">
                <a:solidFill>
                  <a:srgbClr val="4A5650"/>
                </a:solidFill>
              </a:rPr>
              <a:t>all green</a:t>
            </a:r>
            <a:endParaRPr lang="en-US" sz="1200" dirty="0"/>
          </a:p>
        </p:txBody>
      </p:sp>
      <p:sp>
        <p:nvSpPr>
          <p:cNvPr id="8" name="Text 6"/>
          <p:cNvSpPr txBox="1"/>
          <p:nvPr/>
        </p:nvSpPr>
        <p:spPr>
          <a:xfrm>
            <a:off x="4297680" y="1463040"/>
            <a:ext cx="1737360" cy="91440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5</a:t>
            </a:r>
            <a:endParaRPr lang="en-US" sz="6000" dirty="0"/>
          </a:p>
        </p:txBody>
      </p:sp>
      <p:sp>
        <p:nvSpPr>
          <p:cNvPr id="9" name="Text 7"/>
          <p:cNvSpPr txBox="1"/>
          <p:nvPr/>
        </p:nvSpPr>
        <p:spPr>
          <a:xfrm>
            <a:off x="4297680" y="2377440"/>
            <a:ext cx="1783080" cy="640080"/>
          </a:xfrm>
          <a:prstGeom prst="rect">
            <a:avLst/>
          </a:prstGeom>
          <a:noFill/>
          <a:ln/>
        </p:spPr>
        <p:txBody>
          <a:bodyPr wrap="square" lIns="0" tIns="0" rIns="0" bIns="0" rtlCol="0" anchor="t"/>
          <a:lstStyle/>
          <a:p>
            <a:pPr indent="0" marL="0">
              <a:buNone/>
            </a:pPr>
            <a:r>
              <a:rPr lang="en-US" sz="1200" dirty="0">
                <a:solidFill>
                  <a:srgbClr val="4A5650"/>
                </a:solidFill>
              </a:rPr>
              <a:t>Go packages tested,</a:t>
            </a:r>
            <a:endParaRPr lang="en-US" sz="1200" dirty="0"/>
          </a:p>
          <a:p>
            <a:pPr indent="0" marL="0">
              <a:buNone/>
            </a:pPr>
            <a:r>
              <a:rPr lang="en-US" sz="1200" dirty="0">
                <a:solidFill>
                  <a:srgbClr val="4A5650"/>
                </a:solidFill>
              </a:rPr>
              <a:t>go vet clean</a:t>
            </a:r>
            <a:endParaRPr lang="en-US" sz="1200" dirty="0"/>
          </a:p>
        </p:txBody>
      </p:sp>
      <p:sp>
        <p:nvSpPr>
          <p:cNvPr id="10" name="Text 8"/>
          <p:cNvSpPr txBox="1"/>
          <p:nvPr/>
        </p:nvSpPr>
        <p:spPr>
          <a:xfrm>
            <a:off x="548640" y="3337560"/>
            <a:ext cx="5394960" cy="2834640"/>
          </a:xfrm>
          <a:prstGeom prst="rect">
            <a:avLst/>
          </a:prstGeom>
          <a:noFill/>
          <a:ln/>
        </p:spPr>
        <p:txBody>
          <a:bodyPr wrap="square" lIns="0" tIns="0" rIns="0" bIns="0" rtlCol="0" anchor="t"/>
          <a:lstStyle/>
          <a:p>
            <a:pPr marL="203200" indent="-203200">
              <a:spcAft>
                <a:spcPts val="1000"/>
              </a:spcAft>
              <a:buSzPct val="100000"/>
              <a:buChar char="•"/>
            </a:pPr>
            <a:r>
              <a:rPr lang="en-US" sz="1400" b="1" dirty="0">
                <a:solidFill>
                  <a:schemeClr val="tx1"/>
                </a:solidFill>
              </a:rPr>
              <a:t>NutritionCards: </a:t>
            </a:r>
            <a:pPr indent="0" marL="0">
              <a:spcAft>
                <a:spcPts val="1000"/>
              </a:spcAft>
              <a:buNone/>
            </a:pPr>
            <a:r>
              <a:rPr lang="en-US" sz="1400" dirty="0">
                <a:solidFill>
                  <a:schemeClr val="tx1"/>
                </a:solidFill>
              </a:rPr>
              <a:t>above / below / includes, equality, unknown, fixed scales</a:t>
            </a:r>
            <a:endParaRPr lang="en-US" sz="1400" dirty="0"/>
          </a:p>
          <a:p>
            <a:pPr marL="203200" indent="-203200">
              <a:spcAft>
                <a:spcPts val="1000"/>
              </a:spcAft>
              <a:buSzPct val="100000"/>
              <a:buChar char="•"/>
            </a:pPr>
            <a:r>
              <a:rPr lang="en-US" sz="1400" b="1" dirty="0">
                <a:solidFill>
                  <a:schemeClr val="tx1"/>
                </a:solidFill>
              </a:rPr>
              <a:t>NutritionGoals: </a:t>
            </a:r>
            <a:pPr indent="0" marL="0">
              <a:spcAft>
                <a:spcPts val="1000"/>
              </a:spcAft>
              <a:buNone/>
            </a:pPr>
            <a:r>
              <a:rPr lang="en-US" sz="1400" dirty="0">
                <a:solidFill>
                  <a:schemeClr val="tx1"/>
                </a:solidFill>
              </a:rPr>
              <a:t>goal switching, keyboard, copy text, memory-only state</a:t>
            </a:r>
            <a:endParaRPr lang="en-US" sz="1400" dirty="0"/>
          </a:p>
          <a:p>
            <a:pPr marL="203200" indent="-203200">
              <a:spcAft>
                <a:spcPts val="1000"/>
              </a:spcAft>
              <a:buSzPct val="100000"/>
              <a:buChar char="•"/>
            </a:pPr>
            <a:r>
              <a:rPr lang="en-US" sz="1400" b="1" dirty="0">
                <a:solidFill>
                  <a:schemeClr val="tx1"/>
                </a:solidFill>
              </a:rPr>
              <a:t>SampleGoals: </a:t>
            </a:r>
            <a:pPr indent="0" marL="0">
              <a:spcAft>
                <a:spcPts val="1000"/>
              </a:spcAft>
              <a:buNone/>
            </a:pPr>
            <a:r>
              <a:rPr lang="en-US" sz="1400" dirty="0">
                <a:solidFill>
                  <a:schemeClr val="tx1"/>
                </a:solidFill>
              </a:rPr>
              <a:t>landing tabs, labels, isolation from the analyzer</a:t>
            </a:r>
            <a:endParaRPr lang="en-US" sz="1400" dirty="0"/>
          </a:p>
          <a:p>
            <a:pPr marL="203200" indent="-203200">
              <a:spcAft>
                <a:spcPts val="1000"/>
              </a:spcAft>
              <a:buSzPct val="100000"/>
              <a:buChar char="•"/>
            </a:pPr>
            <a:r>
              <a:rPr lang="en-US" sz="1400" b="1" dirty="0">
                <a:solidFill>
                  <a:schemeClr val="tx1"/>
                </a:solidFill>
              </a:rPr>
              <a:t>AiPlateScanner: </a:t>
            </a:r>
            <a:pPr indent="0" marL="0">
              <a:spcAft>
                <a:spcPts val="1000"/>
              </a:spcAft>
              <a:buNone/>
            </a:pPr>
            <a:r>
              <a:rPr lang="en-US" sz="1400" dirty="0">
                <a:solidFill>
                  <a:schemeClr val="tx1"/>
                </a:solidFill>
              </a:rPr>
              <a:t>idle and analyzing states</a:t>
            </a:r>
            <a:endParaRPr lang="en-US" sz="1400" dirty="0"/>
          </a:p>
          <a:p>
            <a:pPr marL="203200" indent="-203200">
              <a:spcAft>
                <a:spcPts val="1000"/>
              </a:spcAft>
              <a:buSzPct val="100000"/>
              <a:buChar char="•"/>
            </a:pPr>
            <a:r>
              <a:rPr lang="en-US" sz="1400" b="1" dirty="0">
                <a:solidFill>
                  <a:schemeClr val="tx1"/>
                </a:solidFill>
              </a:rPr>
              <a:t>Existing: </a:t>
            </a:r>
            <a:pPr indent="0" marL="0">
              <a:spcAft>
                <a:spcPts val="1000"/>
              </a:spcAft>
              <a:buNone/>
            </a:pPr>
            <a:r>
              <a:rPr lang="en-US" sz="1400" dirty="0">
                <a:solidFill>
                  <a:schemeClr val="tx1"/>
                </a:solidFill>
              </a:rPr>
              <a:t>uploads, error codes, clipboard, camera lifecycle</a:t>
            </a:r>
            <a:endParaRPr lang="en-US" sz="1400" dirty="0"/>
          </a:p>
        </p:txBody>
      </p:sp>
      <p:pic>
        <p:nvPicPr>
          <p:cNvPr id="11" name="img-t-vitest.png" descr="Vitest output">    </p:cNvPr>
          <p:cNvPicPr>
            <a:picLocks noChangeAspect="1"/>
          </p:cNvPicPr>
          <p:nvPr/>
        </p:nvPicPr>
        <p:blipFill>
          <a:blip r:embed="rId1"/>
          <a:stretch>
            <a:fillRect/>
          </a:stretch>
        </p:blipFill>
        <p:spPr>
          <a:xfrm>
            <a:off x="6263640" y="1619037"/>
            <a:ext cx="5394960" cy="1791127"/>
          </a:xfrm>
          <a:prstGeom prst="rect">
            <a:avLst/>
          </a:prstGeom>
        </p:spPr>
      </p:pic>
      <p:pic>
        <p:nvPicPr>
          <p:cNvPr id="12" name="img-t-go.png" descr="Go test output">    </p:cNvPr>
          <p:cNvPicPr>
            <a:picLocks noChangeAspect="1"/>
          </p:cNvPicPr>
          <p:nvPr/>
        </p:nvPicPr>
        <p:blipFill>
          <a:blip r:embed="rId2"/>
          <a:stretch>
            <a:fillRect/>
          </a:stretch>
        </p:blipFill>
        <p:spPr>
          <a:xfrm>
            <a:off x="6263640" y="3684483"/>
            <a:ext cx="5285173" cy="2148840"/>
          </a:xfrm>
          <a:prstGeom prst="rect">
            <a:avLst/>
          </a:prstGeom>
        </p:spPr>
      </p:pic>
      <p:sp>
        <p:nvSpPr>
          <p:cNvPr id="13" name="Text 9"/>
          <p:cNvSpPr txBox="1"/>
          <p:nvPr/>
        </p:nvSpPr>
        <p:spPr>
          <a:xfrm>
            <a:off x="6263640" y="6172200"/>
            <a:ext cx="5394960" cy="274320"/>
          </a:xfrm>
          <a:prstGeom prst="rect">
            <a:avLst/>
          </a:prstGeom>
          <a:noFill/>
          <a:ln/>
        </p:spPr>
        <p:txBody>
          <a:bodyPr wrap="square" lIns="0" tIns="0" rIns="0" bIns="0" rtlCol="0" anchor="ctr"/>
          <a:lstStyle/>
          <a:p>
            <a:pPr indent="0" marL="0">
              <a:buNone/>
            </a:pPr>
            <a:r>
              <a:rPr lang="en-US" sz="1000" i="1" dirty="0">
                <a:solidFill>
                  <a:srgbClr val="5F6B64"/>
                </a:solidFill>
              </a:rPr>
              <a:t>Re-run on 27 Oct 2026 · TypeScript clean · production build 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13 · PRIVACY, SECURITY &amp; LIMITS</a:t>
            </a:r>
            <a:endParaRPr lang="en-US" sz="1100" dirty="0"/>
          </a:p>
        </p:txBody>
      </p:sp>
      <p:sp>
        <p:nvSpPr>
          <p:cNvPr id="3" name="Text 0"/>
          <p:cNvSpPr/>
          <p:nvPr>
            <p:ph idx="100" type="title" hasCustomPrompt="1"/>
          </p:nvPr>
        </p:nvSpPr>
        <p:spPr>
          <a:xfrm>
            <a:off x="548640" y="566928"/>
            <a:ext cx="11064240" cy="73152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Built with privacy and restraint</a:t>
            </a:r>
            <a:endParaRPr lang="en-US" sz="3400" dirty="0"/>
          </a:p>
        </p:txBody>
      </p:sp>
      <p:sp>
        <p:nvSpPr>
          <p:cNvPr id="4" name="frame-s-privacy.png"/>
          <p:cNvSpPr/>
          <p:nvPr/>
        </p:nvSpPr>
        <p:spPr>
          <a:xfrm>
            <a:off x="3430212" y="1417320"/>
            <a:ext cx="5346817" cy="2240280"/>
          </a:xfrm>
          <a:prstGeom prst="roundRect">
            <a:avLst>
              <a:gd name="adj" fmla="val 3265"/>
            </a:avLst>
          </a:prstGeom>
          <a:solidFill>
            <a:schemeClr val="bg1"/>
          </a:solidFill>
          <a:ln w="9525">
            <a:solidFill>
              <a:srgbClr val="DADFD6"/>
            </a:solidFill>
            <a:prstDash val="solid"/>
          </a:ln>
          <a:effectLst>
            <a:outerShdw sx="100000" sy="100000" kx="0" ky="0" algn="bl" rotWithShape="0" blurRad="177800" dist="38100" dir="5400000">
              <a:srgbClr val="1C2B24">
                <a:alpha val="16000"/>
              </a:srgbClr>
            </a:outerShdw>
          </a:effectLst>
        </p:spPr>
      </p:sp>
      <p:pic>
        <p:nvPicPr>
          <p:cNvPr id="5" name="img-s-privacy.png" descr="Privacy section of the landing page">    </p:cNvPr>
          <p:cNvPicPr>
            <a:picLocks noChangeAspect="1"/>
          </p:cNvPicPr>
          <p:nvPr/>
        </p:nvPicPr>
        <p:blipFill>
          <a:blip r:embed="rId1"/>
          <a:stretch>
            <a:fillRect/>
          </a:stretch>
        </p:blipFill>
        <p:spPr>
          <a:xfrm>
            <a:off x="3503364" y="1490472"/>
            <a:ext cx="5200513" cy="2093976"/>
          </a:xfrm>
          <a:prstGeom prst="rect">
            <a:avLst/>
          </a:prstGeom>
        </p:spPr>
      </p:pic>
      <p:sp>
        <p:nvSpPr>
          <p:cNvPr id="6" name="card-0.6-4.35"/>
          <p:cNvSpPr/>
          <p:nvPr/>
        </p:nvSpPr>
        <p:spPr>
          <a:xfrm>
            <a:off x="548640" y="3977640"/>
            <a:ext cx="5394960" cy="2240280"/>
          </a:xfrm>
          <a:prstGeom prst="roundRect">
            <a:avLst>
              <a:gd name="adj" fmla="val 4898"/>
            </a:avLst>
          </a:prstGeom>
          <a:solidFill>
            <a:schemeClr val="bg1"/>
          </a:solidFill>
          <a:ln w="9525">
            <a:solidFill>
              <a:srgbClr val="DADFD6"/>
            </a:solidFill>
            <a:prstDash val="solid"/>
          </a:ln>
          <a:effectLst>
            <a:outerShdw sx="100000" sy="100000" kx="0" ky="0" algn="bl" rotWithShape="0" blurRad="177800" dist="38100" dir="5400000">
              <a:srgbClr val="1C2B24">
                <a:alpha val="16000"/>
              </a:srgbClr>
            </a:outerShdw>
          </a:effectLst>
        </p:spPr>
      </p:sp>
      <p:sp>
        <p:nvSpPr>
          <p:cNvPr id="7" name="Text 4"/>
          <p:cNvSpPr txBox="1"/>
          <p:nvPr/>
        </p:nvSpPr>
        <p:spPr>
          <a:xfrm>
            <a:off x="822960" y="4160520"/>
            <a:ext cx="4572000" cy="365760"/>
          </a:xfrm>
          <a:prstGeom prst="rect">
            <a:avLst/>
          </a:prstGeom>
          <a:noFill/>
          <a:ln/>
        </p:spPr>
        <p:txBody>
          <a:bodyPr wrap="square" lIns="0" tIns="0" rIns="0" bIns="0" rtlCol="0" anchor="ctr"/>
          <a:lstStyle/>
          <a:p>
            <a:pPr indent="0" marL="0">
              <a:buNone/>
            </a:pPr>
            <a:r>
              <a:rPr lang="en-US" sz="1700" b="1" dirty="0">
                <a:solidFill>
                  <a:schemeClr val="accent1"/>
                </a:solidFill>
              </a:rPr>
              <a:t>Safeguards</a:t>
            </a:r>
            <a:endParaRPr lang="en-US" sz="1700" dirty="0"/>
          </a:p>
        </p:txBody>
      </p:sp>
      <p:sp>
        <p:nvSpPr>
          <p:cNvPr id="8" name="Text 5"/>
          <p:cNvSpPr txBox="1"/>
          <p:nvPr/>
        </p:nvSpPr>
        <p:spPr>
          <a:xfrm>
            <a:off x="822960" y="4617720"/>
            <a:ext cx="4937760" cy="155448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chemeClr val="tx1"/>
                </a:solidFill>
              </a:rPr>
              <a:t>API key only on the backend — never in the browser</a:t>
            </a:r>
            <a:endParaRPr lang="en-US" sz="1400" dirty="0"/>
          </a:p>
          <a:p>
            <a:pPr marL="203200" indent="-203200">
              <a:spcAft>
                <a:spcPts val="1000"/>
              </a:spcAft>
              <a:buSzPct val="100000"/>
              <a:buChar char="•"/>
            </a:pPr>
            <a:r>
              <a:rPr lang="en-US" sz="1400" dirty="0">
                <a:solidFill>
                  <a:schemeClr val="tx1"/>
                </a:solidFill>
              </a:rPr>
              <a:t>Images processed in memory; never written to disk</a:t>
            </a:r>
            <a:endParaRPr lang="en-US" sz="1400" dirty="0"/>
          </a:p>
          <a:p>
            <a:pPr marL="203200" indent="-203200">
              <a:spcAft>
                <a:spcPts val="1000"/>
              </a:spcAft>
              <a:buSzPct val="100000"/>
              <a:buChar char="•"/>
            </a:pPr>
            <a:r>
              <a:rPr lang="en-US" sz="1400" dirty="0">
                <a:solidFill>
                  <a:schemeClr val="tx1"/>
                </a:solidFill>
              </a:rPr>
              <a:t>Goal choice stays in memory; never saved or sent</a:t>
            </a:r>
            <a:endParaRPr lang="en-US" sz="1400" dirty="0"/>
          </a:p>
          <a:p>
            <a:pPr marL="203200" indent="-203200">
              <a:spcAft>
                <a:spcPts val="1000"/>
              </a:spcAft>
              <a:buSzPct val="100000"/>
              <a:buChar char="•"/>
            </a:pPr>
            <a:r>
              <a:rPr lang="en-US" sz="1400" dirty="0">
                <a:solidFill>
                  <a:schemeClr val="tx1"/>
                </a:solidFill>
              </a:rPr>
              <a:t>No raw images, keys or full responses in logs</a:t>
            </a:r>
            <a:endParaRPr lang="en-US" sz="1400" dirty="0"/>
          </a:p>
        </p:txBody>
      </p:sp>
      <p:sp>
        <p:nvSpPr>
          <p:cNvPr id="9" name="card-6.85-4.35"/>
          <p:cNvSpPr/>
          <p:nvPr/>
        </p:nvSpPr>
        <p:spPr>
          <a:xfrm>
            <a:off x="6263640" y="3977640"/>
            <a:ext cx="5394960" cy="2240280"/>
          </a:xfrm>
          <a:prstGeom prst="roundRect">
            <a:avLst>
              <a:gd name="adj" fmla="val 4898"/>
            </a:avLst>
          </a:prstGeom>
          <a:solidFill>
            <a:schemeClr val="bg1"/>
          </a:solidFill>
          <a:ln w="9525">
            <a:solidFill>
              <a:srgbClr val="DADFD6"/>
            </a:solidFill>
            <a:prstDash val="solid"/>
          </a:ln>
          <a:effectLst>
            <a:outerShdw sx="100000" sy="100000" kx="0" ky="0" algn="bl" rotWithShape="0" blurRad="177800" dist="38100" dir="5400000">
              <a:srgbClr val="1C2B24">
                <a:alpha val="16000"/>
              </a:srgbClr>
            </a:outerShdw>
          </a:effectLst>
        </p:spPr>
      </p:sp>
      <p:sp>
        <p:nvSpPr>
          <p:cNvPr id="10" name="Text 7"/>
          <p:cNvSpPr txBox="1"/>
          <p:nvPr/>
        </p:nvSpPr>
        <p:spPr>
          <a:xfrm>
            <a:off x="6537960" y="4160520"/>
            <a:ext cx="4572000" cy="365760"/>
          </a:xfrm>
          <a:prstGeom prst="rect">
            <a:avLst/>
          </a:prstGeom>
          <a:noFill/>
          <a:ln/>
        </p:spPr>
        <p:txBody>
          <a:bodyPr wrap="square" lIns="0" tIns="0" rIns="0" bIns="0" rtlCol="0" anchor="ctr"/>
          <a:lstStyle/>
          <a:p>
            <a:pPr indent="0" marL="0">
              <a:buNone/>
            </a:pPr>
            <a:r>
              <a:rPr lang="en-US" sz="1700" b="1" dirty="0">
                <a:solidFill>
                  <a:schemeClr val="accent4"/>
                </a:solidFill>
              </a:rPr>
              <a:t>Honest limitations</a:t>
            </a:r>
            <a:endParaRPr lang="en-US" sz="1700" dirty="0"/>
          </a:p>
        </p:txBody>
      </p:sp>
      <p:sp>
        <p:nvSpPr>
          <p:cNvPr id="11" name="Text 8"/>
          <p:cNvSpPr txBox="1"/>
          <p:nvPr/>
        </p:nvSpPr>
        <p:spPr>
          <a:xfrm>
            <a:off x="6537960" y="4617720"/>
            <a:ext cx="4937760" cy="155448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chemeClr val="tx1"/>
                </a:solidFill>
              </a:rPr>
              <a:t>Goal presets are illustrative, not personal advice</a:t>
            </a:r>
            <a:endParaRPr lang="en-US" sz="1400" dirty="0"/>
          </a:p>
          <a:p>
            <a:pPr marL="203200" indent="-203200">
              <a:spcAft>
                <a:spcPts val="1000"/>
              </a:spcAft>
              <a:buSzPct val="100000"/>
              <a:buChar char="•"/>
            </a:pPr>
            <a:r>
              <a:rPr lang="en-US" sz="1400" dirty="0">
                <a:solidFill>
                  <a:schemeClr val="tx1"/>
                </a:solidFill>
              </a:rPr>
              <a:t>Photos go to an external cloud provider; terms apply</a:t>
            </a:r>
            <a:endParaRPr lang="en-US" sz="1400" dirty="0"/>
          </a:p>
          <a:p>
            <a:pPr marL="203200" indent="-203200">
              <a:spcAft>
                <a:spcPts val="1000"/>
              </a:spcAft>
              <a:buSzPct val="100000"/>
              <a:buChar char="•"/>
            </a:pPr>
            <a:r>
              <a:rPr lang="en-US" sz="1400" dirty="0">
                <a:solidFill>
                  <a:schemeClr val="tx1"/>
                </a:solidFill>
              </a:rPr>
              <a:t>Visual ID can be wrong; never use for allergens</a:t>
            </a:r>
            <a:endParaRPr lang="en-US" sz="1400" dirty="0"/>
          </a:p>
          <a:p>
            <a:pPr marL="203200" indent="-203200">
              <a:spcAft>
                <a:spcPts val="1000"/>
              </a:spcAft>
              <a:buSzPct val="100000"/>
              <a:buChar char="•"/>
            </a:pPr>
            <a:r>
              <a:rPr lang="en-US" sz="1400" dirty="0">
                <a:solidFill>
                  <a:schemeClr val="tx1"/>
                </a:solidFill>
              </a:rPr>
              <a:t>Cloud usage may be billed; depends on provider uptime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100" b="1" spc="300" kern="0" dirty="0">
                <a:solidFill>
                  <a:schemeClr val="accent6"/>
                </a:solidFill>
              </a:rPr>
              <a:t>LIVE DEMO &amp; LEARNINGS</a:t>
            </a:r>
            <a:endParaRPr lang="en-US" sz="1100" dirty="0"/>
          </a:p>
        </p:txBody>
      </p:sp>
      <p:sp>
        <p:nvSpPr>
          <p:cNvPr id="3" name="Text 1"/>
          <p:cNvSpPr txBox="1"/>
          <p:nvPr/>
        </p:nvSpPr>
        <p:spPr>
          <a:xfrm>
            <a:off x="640080" y="868680"/>
            <a:ext cx="5486400" cy="73152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What we learned</a:t>
            </a:r>
            <a:endParaRPr lang="en-US" sz="3600" dirty="0"/>
          </a:p>
        </p:txBody>
      </p:sp>
      <p:sp>
        <p:nvSpPr>
          <p:cNvPr id="4" name="Text 2"/>
          <p:cNvSpPr txBox="1"/>
          <p:nvPr/>
        </p:nvSpPr>
        <p:spPr>
          <a:xfrm>
            <a:off x="640080" y="1828800"/>
            <a:ext cx="5029200" cy="365760"/>
          </a:xfrm>
          <a:prstGeom prst="rect">
            <a:avLst/>
          </a:prstGeom>
          <a:noFill/>
          <a:ln/>
        </p:spPr>
        <p:txBody>
          <a:bodyPr wrap="square" lIns="0" tIns="0" rIns="0" bIns="0" rtlCol="0" anchor="ctr"/>
          <a:lstStyle/>
          <a:p>
            <a:pPr indent="0" marL="0">
              <a:buNone/>
            </a:pPr>
            <a:r>
              <a:rPr lang="en-US" sz="1800" b="1" dirty="0">
                <a:solidFill>
                  <a:schemeClr val="accent6"/>
                </a:solidFill>
              </a:rPr>
              <a:t>Live demo (≤ 3 min)</a:t>
            </a:r>
            <a:endParaRPr lang="en-US" sz="1800" dirty="0"/>
          </a:p>
        </p:txBody>
      </p:sp>
      <p:sp>
        <p:nvSpPr>
          <p:cNvPr id="5" name="badge-1"/>
          <p:cNvSpPr/>
          <p:nvPr/>
        </p:nvSpPr>
        <p:spPr>
          <a:xfrm>
            <a:off x="640080" y="2331720"/>
            <a:ext cx="384048" cy="384048"/>
          </a:xfrm>
          <a:prstGeom prst="ellipse">
            <a:avLst/>
          </a:prstGeom>
          <a:solidFill>
            <a:schemeClr val="accent2"/>
          </a:solidFill>
          <a:ln w="12700">
            <a:solidFill>
              <a:schemeClr val="accent2"/>
            </a:solidFill>
            <a:prstDash val="solid"/>
          </a:ln>
        </p:spPr>
      </p:sp>
      <p:sp>
        <p:nvSpPr>
          <p:cNvPr id="6" name="Text 4"/>
          <p:cNvSpPr txBox="1"/>
          <p:nvPr/>
        </p:nvSpPr>
        <p:spPr>
          <a:xfrm>
            <a:off x="640080" y="233172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01</a:t>
            </a:r>
            <a:endParaRPr lang="en-US" sz="1200" dirty="0"/>
          </a:p>
        </p:txBody>
      </p:sp>
      <p:sp>
        <p:nvSpPr>
          <p:cNvPr id="7" name="Text 5"/>
          <p:cNvSpPr txBox="1"/>
          <p:nvPr/>
        </p:nvSpPr>
        <p:spPr>
          <a:xfrm>
            <a:off x="1188720" y="2331720"/>
            <a:ext cx="4480560" cy="384048"/>
          </a:xfrm>
          <a:prstGeom prst="rect">
            <a:avLst/>
          </a:prstGeom>
          <a:noFill/>
          <a:ln/>
        </p:spPr>
        <p:txBody>
          <a:bodyPr wrap="square" lIns="0" tIns="0" rIns="0" bIns="0" rtlCol="0" anchor="ctr"/>
          <a:lstStyle/>
          <a:p>
            <a:pPr indent="0" marL="0">
              <a:buNone/>
            </a:pPr>
            <a:r>
              <a:rPr lang="en-US" sz="1500" dirty="0">
                <a:solidFill>
                  <a:schemeClr val="bg1"/>
                </a:solidFill>
              </a:rPr>
              <a:t>Try the landing sample goals</a:t>
            </a:r>
            <a:endParaRPr lang="en-US" sz="1500" dirty="0"/>
          </a:p>
        </p:txBody>
      </p:sp>
      <p:sp>
        <p:nvSpPr>
          <p:cNvPr id="8" name="badge-2"/>
          <p:cNvSpPr/>
          <p:nvPr/>
        </p:nvSpPr>
        <p:spPr>
          <a:xfrm>
            <a:off x="640080" y="2898648"/>
            <a:ext cx="384048" cy="384048"/>
          </a:xfrm>
          <a:prstGeom prst="ellipse">
            <a:avLst/>
          </a:prstGeom>
          <a:solidFill>
            <a:schemeClr val="accent2"/>
          </a:solidFill>
          <a:ln w="12700">
            <a:solidFill>
              <a:schemeClr val="accent2"/>
            </a:solidFill>
            <a:prstDash val="solid"/>
          </a:ln>
        </p:spPr>
      </p:sp>
      <p:sp>
        <p:nvSpPr>
          <p:cNvPr id="9" name="Text 7"/>
          <p:cNvSpPr txBox="1"/>
          <p:nvPr/>
        </p:nvSpPr>
        <p:spPr>
          <a:xfrm>
            <a:off x="640080" y="2898648"/>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02</a:t>
            </a:r>
            <a:endParaRPr lang="en-US" sz="1200" dirty="0"/>
          </a:p>
        </p:txBody>
      </p:sp>
      <p:sp>
        <p:nvSpPr>
          <p:cNvPr id="10" name="Text 8"/>
          <p:cNvSpPr txBox="1"/>
          <p:nvPr/>
        </p:nvSpPr>
        <p:spPr>
          <a:xfrm>
            <a:off x="1188720" y="2898648"/>
            <a:ext cx="4480560" cy="384048"/>
          </a:xfrm>
          <a:prstGeom prst="rect">
            <a:avLst/>
          </a:prstGeom>
          <a:noFill/>
          <a:ln/>
        </p:spPr>
        <p:txBody>
          <a:bodyPr wrap="square" lIns="0" tIns="0" rIns="0" bIns="0" rtlCol="0" anchor="ctr"/>
          <a:lstStyle/>
          <a:p>
            <a:pPr indent="0" marL="0">
              <a:buNone/>
            </a:pPr>
            <a:r>
              <a:rPr lang="en-US" sz="1500" dirty="0">
                <a:solidFill>
                  <a:schemeClr val="bg1"/>
                </a:solidFill>
              </a:rPr>
              <a:t>Upload a meal and watch the scanner</a:t>
            </a:r>
            <a:endParaRPr lang="en-US" sz="1500" dirty="0"/>
          </a:p>
        </p:txBody>
      </p:sp>
      <p:sp>
        <p:nvSpPr>
          <p:cNvPr id="11" name="badge-3"/>
          <p:cNvSpPr/>
          <p:nvPr/>
        </p:nvSpPr>
        <p:spPr>
          <a:xfrm>
            <a:off x="640080" y="3465576"/>
            <a:ext cx="384048" cy="384048"/>
          </a:xfrm>
          <a:prstGeom prst="ellipse">
            <a:avLst/>
          </a:prstGeom>
          <a:solidFill>
            <a:schemeClr val="accent2"/>
          </a:solidFill>
          <a:ln w="12700">
            <a:solidFill>
              <a:schemeClr val="accent2"/>
            </a:solidFill>
            <a:prstDash val="solid"/>
          </a:ln>
        </p:spPr>
      </p:sp>
      <p:sp>
        <p:nvSpPr>
          <p:cNvPr id="12" name="Text 10"/>
          <p:cNvSpPr txBox="1"/>
          <p:nvPr/>
        </p:nvSpPr>
        <p:spPr>
          <a:xfrm>
            <a:off x="640080" y="3465576"/>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03</a:t>
            </a:r>
            <a:endParaRPr lang="en-US" sz="1200" dirty="0"/>
          </a:p>
        </p:txBody>
      </p:sp>
      <p:sp>
        <p:nvSpPr>
          <p:cNvPr id="13" name="Text 11"/>
          <p:cNvSpPr txBox="1"/>
          <p:nvPr/>
        </p:nvSpPr>
        <p:spPr>
          <a:xfrm>
            <a:off x="1188720" y="3465576"/>
            <a:ext cx="4480560" cy="384048"/>
          </a:xfrm>
          <a:prstGeom prst="rect">
            <a:avLst/>
          </a:prstGeom>
          <a:noFill/>
          <a:ln/>
        </p:spPr>
        <p:txBody>
          <a:bodyPr wrap="square" lIns="0" tIns="0" rIns="0" bIns="0" rtlCol="0" anchor="ctr"/>
          <a:lstStyle/>
          <a:p>
            <a:pPr indent="0" marL="0">
              <a:buNone/>
            </a:pPr>
            <a:r>
              <a:rPr lang="en-US" sz="1500" dirty="0">
                <a:solidFill>
                  <a:schemeClr val="bg1"/>
                </a:solidFill>
              </a:rPr>
              <a:t>Walk through the cards and switch goals</a:t>
            </a:r>
            <a:endParaRPr lang="en-US" sz="1500" dirty="0"/>
          </a:p>
        </p:txBody>
      </p:sp>
      <p:sp>
        <p:nvSpPr>
          <p:cNvPr id="14" name="badge-4"/>
          <p:cNvSpPr/>
          <p:nvPr/>
        </p:nvSpPr>
        <p:spPr>
          <a:xfrm>
            <a:off x="640080" y="4032504"/>
            <a:ext cx="384048" cy="384048"/>
          </a:xfrm>
          <a:prstGeom prst="ellipse">
            <a:avLst/>
          </a:prstGeom>
          <a:solidFill>
            <a:schemeClr val="accent2"/>
          </a:solidFill>
          <a:ln w="12700">
            <a:solidFill>
              <a:schemeClr val="accent2"/>
            </a:solidFill>
            <a:prstDash val="solid"/>
          </a:ln>
        </p:spPr>
      </p:sp>
      <p:sp>
        <p:nvSpPr>
          <p:cNvPr id="15" name="Text 13"/>
          <p:cNvSpPr txBox="1"/>
          <p:nvPr/>
        </p:nvSpPr>
        <p:spPr>
          <a:xfrm>
            <a:off x="640080" y="4032504"/>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04</a:t>
            </a:r>
            <a:endParaRPr lang="en-US" sz="1200" dirty="0"/>
          </a:p>
        </p:txBody>
      </p:sp>
      <p:sp>
        <p:nvSpPr>
          <p:cNvPr id="16" name="Text 14"/>
          <p:cNvSpPr txBox="1"/>
          <p:nvPr/>
        </p:nvSpPr>
        <p:spPr>
          <a:xfrm>
            <a:off x="1188720" y="4032504"/>
            <a:ext cx="4480560" cy="384048"/>
          </a:xfrm>
          <a:prstGeom prst="rect">
            <a:avLst/>
          </a:prstGeom>
          <a:noFill/>
          <a:ln/>
        </p:spPr>
        <p:txBody>
          <a:bodyPr wrap="square" lIns="0" tIns="0" rIns="0" bIns="0" rtlCol="0" anchor="ctr"/>
          <a:lstStyle/>
          <a:p>
            <a:pPr indent="0" marL="0">
              <a:buNone/>
            </a:pPr>
            <a:r>
              <a:rPr lang="en-US" sz="1500" dirty="0">
                <a:solidFill>
                  <a:schemeClr val="bg1"/>
                </a:solidFill>
              </a:rPr>
              <a:t>Copy the result · try an invalid file</a:t>
            </a:r>
            <a:endParaRPr lang="en-US" sz="1500" dirty="0"/>
          </a:p>
        </p:txBody>
      </p:sp>
      <p:sp>
        <p:nvSpPr>
          <p:cNvPr id="17" name="Text 15"/>
          <p:cNvSpPr txBox="1"/>
          <p:nvPr/>
        </p:nvSpPr>
        <p:spPr>
          <a:xfrm>
            <a:off x="6263640" y="1828800"/>
            <a:ext cx="5303520" cy="365760"/>
          </a:xfrm>
          <a:prstGeom prst="rect">
            <a:avLst/>
          </a:prstGeom>
          <a:noFill/>
          <a:ln/>
        </p:spPr>
        <p:txBody>
          <a:bodyPr wrap="square" lIns="0" tIns="0" rIns="0" bIns="0" rtlCol="0" anchor="ctr"/>
          <a:lstStyle/>
          <a:p>
            <a:pPr indent="0" marL="0">
              <a:buNone/>
            </a:pPr>
            <a:r>
              <a:rPr lang="en-US" sz="1800" b="1" dirty="0">
                <a:solidFill>
                  <a:schemeClr val="accent6"/>
                </a:solidFill>
              </a:rPr>
              <a:t>Key learnings</a:t>
            </a:r>
            <a:endParaRPr lang="en-US" sz="1800" dirty="0"/>
          </a:p>
        </p:txBody>
      </p:sp>
      <p:sp>
        <p:nvSpPr>
          <p:cNvPr id="18" name="Text 16"/>
          <p:cNvSpPr txBox="1"/>
          <p:nvPr/>
        </p:nvSpPr>
        <p:spPr>
          <a:xfrm>
            <a:off x="6263640" y="2331720"/>
            <a:ext cx="5303520" cy="1737360"/>
          </a:xfrm>
          <a:prstGeom prst="rect">
            <a:avLst/>
          </a:prstGeom>
          <a:noFill/>
          <a:ln/>
        </p:spPr>
        <p:txBody>
          <a:bodyPr wrap="square" lIns="0" tIns="0" rIns="0" bIns="0" rtlCol="0" anchor="t"/>
          <a:lstStyle/>
          <a:p>
            <a:pPr marL="203200" indent="-203200">
              <a:spcAft>
                <a:spcPts val="1000"/>
              </a:spcAft>
              <a:buSzPct val="100000"/>
              <a:buChar char="•"/>
            </a:pPr>
            <a:r>
              <a:rPr lang="en-US" sz="1500" b="1" dirty="0">
                <a:solidFill>
                  <a:schemeClr val="bg1"/>
                </a:solidFill>
              </a:rPr>
              <a:t>Validate at the boundary: </a:t>
            </a:r>
            <a:pPr indent="0" marL="0">
              <a:spcAft>
                <a:spcPts val="1000"/>
              </a:spcAft>
              <a:buNone/>
            </a:pPr>
            <a:r>
              <a:rPr lang="en-US" sz="1500" dirty="0">
                <a:solidFill>
                  <a:schemeClr val="bg1"/>
                </a:solidFill>
              </a:rPr>
              <a:t>LLM output must be checked, not trusted.</a:t>
            </a:r>
            <a:endParaRPr lang="en-US" sz="1500" dirty="0"/>
          </a:p>
          <a:p>
            <a:pPr marL="203200" indent="-203200">
              <a:spcAft>
                <a:spcPts val="1000"/>
              </a:spcAft>
              <a:buSzPct val="100000"/>
              <a:buChar char="•"/>
            </a:pPr>
            <a:r>
              <a:rPr lang="en-US" sz="1500" b="1" dirty="0">
                <a:solidFill>
                  <a:schemeClr val="bg1"/>
                </a:solidFill>
              </a:rPr>
              <a:t>Compare, don’t judge: </a:t>
            </a:r>
            <a:pPr indent="0" marL="0">
              <a:spcAft>
                <a:spcPts val="1000"/>
              </a:spcAft>
              <a:buNone/>
            </a:pPr>
            <a:r>
              <a:rPr lang="en-US" sz="1500" dirty="0">
                <a:solidFill>
                  <a:schemeClr val="bg1"/>
                </a:solidFill>
              </a:rPr>
              <a:t>a goal reference adds meaning without health claims.</a:t>
            </a:r>
            <a:endParaRPr lang="en-US" sz="1500" dirty="0"/>
          </a:p>
          <a:p>
            <a:pPr marL="203200" indent="-203200">
              <a:spcAft>
                <a:spcPts val="1000"/>
              </a:spcAft>
              <a:buSzPct val="100000"/>
              <a:buChar char="•"/>
            </a:pPr>
            <a:r>
              <a:rPr lang="en-US" sz="1500" b="1" dirty="0">
                <a:solidFill>
                  <a:schemeClr val="bg1"/>
                </a:solidFill>
              </a:rPr>
              <a:t>Honest UX builds trust: </a:t>
            </a:r>
            <a:pPr indent="0" marL="0">
              <a:spcAft>
                <a:spcPts val="1000"/>
              </a:spcAft>
              <a:buNone/>
            </a:pPr>
            <a:r>
              <a:rPr lang="en-US" sz="1500" dirty="0">
                <a:solidFill>
                  <a:schemeClr val="bg1"/>
                </a:solidFill>
              </a:rPr>
              <a:t>ranges, badges, assumptions and disclaimers.</a:t>
            </a:r>
            <a:endParaRPr lang="en-US" sz="1500" dirty="0"/>
          </a:p>
        </p:txBody>
      </p:sp>
      <p:sp>
        <p:nvSpPr>
          <p:cNvPr id="19" name="Text 17"/>
          <p:cNvSpPr txBox="1"/>
          <p:nvPr/>
        </p:nvSpPr>
        <p:spPr>
          <a:xfrm>
            <a:off x="6263640" y="4160520"/>
            <a:ext cx="5303520" cy="365760"/>
          </a:xfrm>
          <a:prstGeom prst="rect">
            <a:avLst/>
          </a:prstGeom>
          <a:noFill/>
          <a:ln/>
        </p:spPr>
        <p:txBody>
          <a:bodyPr wrap="square" lIns="0" tIns="0" rIns="0" bIns="0" rtlCol="0" anchor="ctr"/>
          <a:lstStyle/>
          <a:p>
            <a:pPr indent="0" marL="0">
              <a:buNone/>
            </a:pPr>
            <a:r>
              <a:rPr lang="en-US" sz="1800" b="1" dirty="0">
                <a:solidFill>
                  <a:schemeClr val="accent6"/>
                </a:solidFill>
              </a:rPr>
              <a:t>Next steps</a:t>
            </a:r>
            <a:endParaRPr lang="en-US" sz="1800" dirty="0"/>
          </a:p>
        </p:txBody>
      </p:sp>
      <p:sp>
        <p:nvSpPr>
          <p:cNvPr id="20" name="Text 18"/>
          <p:cNvSpPr txBox="1"/>
          <p:nvPr/>
        </p:nvSpPr>
        <p:spPr>
          <a:xfrm>
            <a:off x="6263640" y="4663440"/>
            <a:ext cx="5303520" cy="137160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bg1"/>
                </a:solidFill>
              </a:rPr>
              <a:t>Fix the 390 px card overflow; test on real phones</a:t>
            </a:r>
            <a:endParaRPr lang="en-US" sz="1500" dirty="0"/>
          </a:p>
          <a:p>
            <a:pPr marL="203200" indent="-203200">
              <a:spcAft>
                <a:spcPts val="1000"/>
              </a:spcAft>
              <a:buSzPct val="100000"/>
              <a:buChar char="•"/>
            </a:pPr>
            <a:r>
              <a:rPr lang="en-US" sz="1500" dirty="0">
                <a:solidFill>
                  <a:schemeClr val="bg1"/>
                </a:solidFill>
              </a:rPr>
              <a:t>Verify a live Ollama Cloud call and deploy on Render</a:t>
            </a:r>
            <a:endParaRPr lang="en-US" sz="1500" dirty="0"/>
          </a:p>
          <a:p>
            <a:pPr marL="203200" indent="-203200">
              <a:spcAft>
                <a:spcPts val="1000"/>
              </a:spcAft>
              <a:buSzPct val="100000"/>
              <a:buChar char="•"/>
            </a:pPr>
            <a:r>
              <a:rPr lang="en-US" sz="1500" dirty="0">
                <a:solidFill>
                  <a:schemeClr val="bg1"/>
                </a:solidFill>
              </a:rPr>
              <a:t>Multi-angle photos for complex meals; PWA install</a:t>
            </a:r>
            <a:endParaRPr lang="en-US" sz="1500" dirty="0"/>
          </a:p>
        </p:txBody>
      </p:sp>
      <p:sp>
        <p:nvSpPr>
          <p:cNvPr id="21" name="Text 19"/>
          <p:cNvSpPr txBox="1"/>
          <p:nvPr/>
        </p:nvSpPr>
        <p:spPr>
          <a:xfrm>
            <a:off x="640080" y="5989320"/>
            <a:ext cx="5486400" cy="457200"/>
          </a:xfrm>
          <a:prstGeom prst="rect">
            <a:avLst/>
          </a:prstGeom>
          <a:noFill/>
          <a:ln/>
        </p:spPr>
        <p:txBody>
          <a:bodyPr wrap="square" lIns="0" tIns="0" rIns="0" bIns="0" rtlCol="0" anchor="ctr"/>
          <a:lstStyle/>
          <a:p>
            <a:pPr indent="0" marL="0">
              <a:buNone/>
            </a:pPr>
            <a:r>
              <a:rPr lang="en-US" sz="2000" i="1" dirty="0">
                <a:solidFill>
                  <a:schemeClr val="accent3"/>
                </a:solidFill>
                <a:latin typeface="Cambria" pitchFamily="34" charset="0"/>
                <a:ea typeface="Cambria" pitchFamily="34" charset="-122"/>
                <a:cs typeface="Cambria" pitchFamily="34" charset="-120"/>
              </a:rPr>
              <a:t>Thank you — questions?</a:t>
            </a:r>
            <a:endParaRPr lang="en-US" sz="2000" dirty="0"/>
          </a:p>
        </p:txBody>
      </p:sp>
      <p:sp>
        <p:nvSpPr>
          <p:cNvPr id="23" name="Text 0"/>
          <p:cNvSpPr/>
          <p:nvPr>
            <p:ph idx="100" type="title" hasCustomPrompt="1"/>
          </p:nvPr>
        </p:nvSpPr>
        <p:spPr>
          <a:xfrm>
            <a:off x="640080" y="2011680"/>
            <a:ext cx="5852160" cy="1463040"/>
          </a:xfrm>
          <a:prstGeom prst="rect">
            <a:avLst/>
          </a:prstGeom>
          <a:noFill/>
          <a:ln/>
        </p:spPr>
        <p:txBody>
          <a:bodyPr wrap="square" lIns="0" tIns="0" rIns="0" bIns="0" rtlCol="0" anchor="t"/>
          <a:lstStyle/>
          <a:p>
            <a:pPr algn="l" indent="0" marL="0">
              <a:buNone/>
            </a:pPr>
            <a:endParaRPr lang="en-US" sz="4800" dirty="0"/>
          </a:p>
        </p:txBody>
      </p:sp>
    </p:spTree>
  </p:cSld>
  <p:clrMapOvr>
    <a:masterClrMapping/>
  </p:clrMapOvr>
</p:sld>
</file>

<file path=ppt/theme/theme1.xml><?xml version="1.0" encoding="utf-8"?>
<a:theme xmlns:a="http://schemas.openxmlformats.org/drawingml/2006/main" name="FoodLens">
  <a:themeElements>
    <a:clrScheme name="FoodLens">
      <a:dk1>
        <a:srgbClr val="1C2B24"/>
      </a:dk1>
      <a:lt1>
        <a:srgbClr val="FFFFFF"/>
      </a:lt1>
      <a:dk2>
        <a:srgbClr val="1E4536"/>
      </a:dk2>
      <a:lt2>
        <a:srgbClr val="F4F6F1"/>
      </a:lt2>
      <a:accent1>
        <a:srgbClr val="234A3C"/>
      </a:accent1>
      <a:accent2>
        <a:srgbClr val="5B8A4A"/>
      </a:accent2>
      <a:accent3>
        <a:srgbClr val="DDE8DA"/>
      </a:accent3>
      <a:accent4>
        <a:srgbClr val="D97706"/>
      </a:accent4>
      <a:accent5>
        <a:srgbClr val="B42318"/>
      </a:accent5>
      <a:accent6>
        <a:srgbClr val="7DA06A"/>
      </a:accent6>
      <a:hlink>
        <a:srgbClr val="234A3C"/>
      </a:hlink>
      <a:folHlink>
        <a:srgbClr val="5B8A4A"/>
      </a:folHlink>
    </a:clrScheme>
    <a:fontScheme name="FoodLen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FoodLens AI — Project Presentation</dc:title>
  <dc:subject>PptxGenJS Presentation</dc:subject>
  <dc:creator>FoodLens AI</dc:creator>
  <cp:lastModifiedBy>FoodLens AI</cp:lastModifiedBy>
  <cp:revision>1</cp:revision>
  <dcterms:created xsi:type="dcterms:W3CDTF">2026-10-27T13:42:47Z</dcterms:created>
  <dcterms:modified xsi:type="dcterms:W3CDTF">2026-10-27T13:42:47Z</dcterms:modified>
</cp:coreProperties>
</file>